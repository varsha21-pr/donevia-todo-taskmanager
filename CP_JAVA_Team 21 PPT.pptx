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0" r:id="rId2"/>
    <p:sldId id="4421" r:id="rId3"/>
    <p:sldId id="4423" r:id="rId4"/>
    <p:sldId id="4424" r:id="rId5"/>
    <p:sldId id="4422" r:id="rId6"/>
    <p:sldId id="4425" r:id="rId7"/>
    <p:sldId id="4458" r:id="rId8"/>
    <p:sldId id="4446" r:id="rId9"/>
    <p:sldId id="4455" r:id="rId10"/>
    <p:sldId id="4456" r:id="rId11"/>
    <p:sldId id="4426" r:id="rId12"/>
    <p:sldId id="4444" r:id="rId13"/>
    <p:sldId id="4445" r:id="rId14"/>
    <p:sldId id="4428" r:id="rId15"/>
    <p:sldId id="4452" r:id="rId16"/>
    <p:sldId id="4440" r:id="rId17"/>
    <p:sldId id="4439" r:id="rId18"/>
    <p:sldId id="4441" r:id="rId19"/>
    <p:sldId id="4442" r:id="rId20"/>
    <p:sldId id="4429" r:id="rId21"/>
    <p:sldId id="4430" r:id="rId22"/>
    <p:sldId id="4431" r:id="rId23"/>
    <p:sldId id="4449" r:id="rId24"/>
    <p:sldId id="4450" r:id="rId25"/>
    <p:sldId id="4451" r:id="rId26"/>
    <p:sldId id="4448" r:id="rId27"/>
    <p:sldId id="4454" r:id="rId28"/>
    <p:sldId id="4433" r:id="rId29"/>
    <p:sldId id="4453" r:id="rId30"/>
    <p:sldId id="4434" r:id="rId31"/>
    <p:sldId id="4443" r:id="rId32"/>
    <p:sldId id="445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2/7/2026</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2/7/2026</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varsha21-pr/DoneVia-todo-taskmanager.git"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25SUB4530_CP_JAVA</a:t>
            </a:r>
          </a:p>
        </p:txBody>
      </p:sp>
      <p:sp>
        <p:nvSpPr>
          <p:cNvPr id="7" name="TextBox 7"/>
          <p:cNvSpPr txBox="1"/>
          <p:nvPr/>
        </p:nvSpPr>
        <p:spPr>
          <a:xfrm>
            <a:off x="366227" y="3275236"/>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9</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&amp; 10</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Varsha P R</a:t>
            </a:r>
          </a:p>
          <a:p>
            <a:pPr algn="just">
              <a:lnSpc>
                <a:spcPts val="2239"/>
              </a:lnSpc>
              <a:spcBef>
                <a:spcPct val="0"/>
              </a:spcBef>
            </a:pPr>
            <a:r>
              <a:rPr lang="en-US" sz="2400" dirty="0">
                <a:solidFill>
                  <a:srgbClr val="FFFFFF"/>
                </a:solidFill>
                <a:latin typeface="HK Grotesk" pitchFamily="2" charset="77"/>
              </a:rPr>
              <a:t>                            Jayanth V L K</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 Task/To-Do Management Application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E3526C0-0D62-E999-846D-539DB0F96A06}"/>
              </a:ext>
            </a:extLst>
          </p:cNvPr>
          <p:cNvSpPr/>
          <p:nvPr/>
        </p:nvSpPr>
        <p:spPr>
          <a:xfrm>
            <a:off x="518171" y="560267"/>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Objective of the Project</a:t>
            </a:r>
          </a:p>
        </p:txBody>
      </p:sp>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4" name="TextBox 3">
            <a:extLst>
              <a:ext uri="{FF2B5EF4-FFF2-40B4-BE49-F238E27FC236}">
                <a16:creationId xmlns:a16="http://schemas.microsoft.com/office/drawing/2014/main" id="{DC834CDC-2435-88E7-E908-66FF8BBA8773}"/>
              </a:ext>
            </a:extLst>
          </p:cNvPr>
          <p:cNvSpPr txBox="1"/>
          <p:nvPr/>
        </p:nvSpPr>
        <p:spPr>
          <a:xfrm>
            <a:off x="868925" y="1455134"/>
            <a:ext cx="6263396" cy="424731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sz="2800" dirty="0"/>
              <a:t>Improve task organization and productivity</a:t>
            </a:r>
          </a:p>
          <a:p>
            <a:pPr marL="285750" lvl="0" indent="-285750">
              <a:buFont typeface="Arial" panose="020B0604020202020204" pitchFamily="34" charset="0"/>
              <a:buChar char="•"/>
            </a:pPr>
            <a:r>
              <a:rPr lang="en-IN" sz="2800" dirty="0"/>
              <a:t>Provide clear visibility of tasks</a:t>
            </a:r>
          </a:p>
          <a:p>
            <a:pPr marL="285750" lvl="0" indent="-285750">
              <a:buFont typeface="Arial" panose="020B0604020202020204" pitchFamily="34" charset="0"/>
              <a:buChar char="•"/>
            </a:pPr>
            <a:r>
              <a:rPr lang="en-IN" sz="2800" dirty="0"/>
              <a:t>Enable users to manage tasks efficiently</a:t>
            </a:r>
          </a:p>
          <a:p>
            <a:pPr marL="285750" lvl="0" indent="-285750">
              <a:buFont typeface="Arial" panose="020B0604020202020204" pitchFamily="34" charset="0"/>
              <a:buChar char="•"/>
            </a:pPr>
            <a:r>
              <a:rPr lang="en-IN" sz="2800" dirty="0"/>
              <a:t>Demonstrate full-stack development skills</a:t>
            </a:r>
          </a:p>
          <a:p>
            <a:pPr marL="285750" lvl="0" indent="-285750">
              <a:buFont typeface="Arial" panose="020B0604020202020204" pitchFamily="34" charset="0"/>
              <a:buChar char="•"/>
            </a:pPr>
            <a:r>
              <a:rPr lang="en-IN" sz="2800" dirty="0"/>
              <a:t>Implement DevOps concepts like Docker and Azure</a:t>
            </a:r>
          </a:p>
          <a:p>
            <a:endParaRPr lang="en-US" dirty="0">
              <a:solidFill>
                <a:srgbClr val="0187CC"/>
              </a:solidFill>
              <a:latin typeface="HK Grotesk"/>
            </a:endParaRPr>
          </a:p>
        </p:txBody>
      </p:sp>
      <p:pic>
        <p:nvPicPr>
          <p:cNvPr id="7" name="Picture 6">
            <a:extLst>
              <a:ext uri="{FF2B5EF4-FFF2-40B4-BE49-F238E27FC236}">
                <a16:creationId xmlns:a16="http://schemas.microsoft.com/office/drawing/2014/main" id="{510A4483-5D8F-6FE0-A912-379651DD7BA2}"/>
              </a:ext>
            </a:extLst>
          </p:cNvPr>
          <p:cNvPicPr>
            <a:picLocks noChangeAspect="1"/>
          </p:cNvPicPr>
          <p:nvPr/>
        </p:nvPicPr>
        <p:blipFill>
          <a:blip r:embed="rId3">
            <a:extLst>
              <a:ext uri="{28A0092B-C50C-407E-A947-70E740481C1C}">
                <a14:useLocalDpi xmlns:a14="http://schemas.microsoft.com/office/drawing/2010/main" val="0"/>
              </a:ext>
            </a:extLst>
          </a:blip>
          <a:srcRect r="3000" b="8000"/>
          <a:stretch>
            <a:fillRect/>
          </a:stretch>
        </p:blipFill>
        <p:spPr>
          <a:xfrm>
            <a:off x="7218680" y="833120"/>
            <a:ext cx="4434840" cy="4206240"/>
          </a:xfrm>
          <a:prstGeom prst="rect">
            <a:avLst/>
          </a:prstGeom>
        </p:spPr>
      </p:pic>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8A75A-540A-EA2A-8491-752EE52DA4DD}"/>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B6EC96A-7B16-0E43-89C5-102C82D60623}"/>
              </a:ext>
            </a:extLst>
          </p:cNvPr>
          <p:cNvSpPr/>
          <p:nvPr/>
        </p:nvSpPr>
        <p:spPr>
          <a:xfrm>
            <a:off x="722254" y="612527"/>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Technology Stack</a:t>
            </a:r>
          </a:p>
        </p:txBody>
      </p:sp>
      <p:pic>
        <p:nvPicPr>
          <p:cNvPr id="2" name="Picture 1" descr="Logo&#10;&#10;Description automatically generated">
            <a:extLst>
              <a:ext uri="{FF2B5EF4-FFF2-40B4-BE49-F238E27FC236}">
                <a16:creationId xmlns:a16="http://schemas.microsoft.com/office/drawing/2014/main" id="{727D1B57-93E6-C3AC-7C1E-DDE3DF4D8C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65983DD-06FA-804D-CCA7-5DAA173680A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050AFFE-960F-924B-CB6D-C928F5101484}"/>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4" name="TextBox 3">
            <a:extLst>
              <a:ext uri="{FF2B5EF4-FFF2-40B4-BE49-F238E27FC236}">
                <a16:creationId xmlns:a16="http://schemas.microsoft.com/office/drawing/2014/main" id="{1779B1A5-7751-21D6-093C-00DB85198596}"/>
              </a:ext>
            </a:extLst>
          </p:cNvPr>
          <p:cNvSpPr txBox="1"/>
          <p:nvPr/>
        </p:nvSpPr>
        <p:spPr>
          <a:xfrm>
            <a:off x="962886" y="1402700"/>
            <a:ext cx="8758630" cy="443198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IN" sz="2400" b="1" dirty="0"/>
              <a:t>Frontend:</a:t>
            </a:r>
            <a:endParaRPr lang="en-IN" sz="2400" dirty="0"/>
          </a:p>
          <a:p>
            <a:pPr lvl="0"/>
            <a:r>
              <a:rPr lang="en-IN" sz="2400" dirty="0"/>
              <a:t>      Angular</a:t>
            </a:r>
          </a:p>
          <a:p>
            <a:pPr lvl="0"/>
            <a:r>
              <a:rPr lang="en-IN" sz="2400" dirty="0"/>
              <a:t>      HTML, CSS, TypeScript</a:t>
            </a:r>
          </a:p>
          <a:p>
            <a:pPr marL="342900" indent="-342900">
              <a:buFont typeface="Arial" panose="020B0604020202020204" pitchFamily="34" charset="0"/>
              <a:buChar char="•"/>
            </a:pPr>
            <a:r>
              <a:rPr lang="en-IN" sz="2400" b="1" dirty="0"/>
              <a:t>Backend:</a:t>
            </a:r>
            <a:endParaRPr lang="en-IN" sz="2400" dirty="0"/>
          </a:p>
          <a:p>
            <a:pPr lvl="0"/>
            <a:r>
              <a:rPr lang="en-IN" sz="2400" dirty="0"/>
              <a:t>      Spring Boot</a:t>
            </a:r>
          </a:p>
          <a:p>
            <a:pPr lvl="0"/>
            <a:r>
              <a:rPr lang="en-IN" sz="2400" dirty="0"/>
              <a:t>      Spring Data JPA</a:t>
            </a:r>
          </a:p>
          <a:p>
            <a:pPr marL="342900" indent="-342900">
              <a:buFont typeface="Arial" panose="020B0604020202020204" pitchFamily="34" charset="0"/>
              <a:buChar char="•"/>
            </a:pPr>
            <a:r>
              <a:rPr lang="en-IN" sz="2400" b="1" dirty="0"/>
              <a:t>Database:</a:t>
            </a:r>
            <a:endParaRPr lang="en-IN" sz="2400" dirty="0"/>
          </a:p>
          <a:p>
            <a:pPr lvl="0"/>
            <a:r>
              <a:rPr lang="en-IN" sz="2400" dirty="0"/>
              <a:t>      MySQL</a:t>
            </a:r>
          </a:p>
          <a:p>
            <a:pPr marL="342900" indent="-342900">
              <a:buFont typeface="Arial" panose="020B0604020202020204" pitchFamily="34" charset="0"/>
              <a:buChar char="•"/>
            </a:pPr>
            <a:r>
              <a:rPr lang="en-IN" sz="2400" b="1" dirty="0"/>
              <a:t>DevOps &amp; Cloud:</a:t>
            </a:r>
            <a:endParaRPr lang="en-IN" sz="2400" dirty="0"/>
          </a:p>
          <a:p>
            <a:pPr lvl="0"/>
            <a:r>
              <a:rPr lang="en-IN" sz="2400" dirty="0"/>
              <a:t>      Docker</a:t>
            </a:r>
          </a:p>
          <a:p>
            <a:pPr lvl="0"/>
            <a:r>
              <a:rPr lang="en-IN" sz="2400" dirty="0"/>
              <a:t>      Azure Container Instances</a:t>
            </a:r>
          </a:p>
          <a:p>
            <a:pPr marL="285750" indent="-285750">
              <a:buFont typeface="Arial" panose="020B0604020202020204" pitchFamily="34" charset="0"/>
              <a:buChar char="•"/>
            </a:pPr>
            <a:endParaRPr lang="en-US" dirty="0">
              <a:solidFill>
                <a:srgbClr val="0187CC"/>
              </a:solidFill>
              <a:latin typeface="HK Grotesk"/>
            </a:endParaRPr>
          </a:p>
        </p:txBody>
      </p:sp>
      <p:pic>
        <p:nvPicPr>
          <p:cNvPr id="7" name="Picture 6">
            <a:extLst>
              <a:ext uri="{FF2B5EF4-FFF2-40B4-BE49-F238E27FC236}">
                <a16:creationId xmlns:a16="http://schemas.microsoft.com/office/drawing/2014/main" id="{E1A210DD-D055-58C8-7B32-22F94255D4A3}"/>
              </a:ext>
            </a:extLst>
          </p:cNvPr>
          <p:cNvPicPr>
            <a:picLocks noChangeAspect="1"/>
          </p:cNvPicPr>
          <p:nvPr/>
        </p:nvPicPr>
        <p:blipFill>
          <a:blip r:embed="rId3">
            <a:extLst>
              <a:ext uri="{28A0092B-C50C-407E-A947-70E740481C1C}">
                <a14:useLocalDpi xmlns:a14="http://schemas.microsoft.com/office/drawing/2010/main" val="0"/>
              </a:ext>
            </a:extLst>
          </a:blip>
          <a:srcRect t="18200" r="2964" b="13701"/>
          <a:stretch>
            <a:fillRect/>
          </a:stretch>
        </p:blipFill>
        <p:spPr>
          <a:xfrm>
            <a:off x="6050280" y="1473200"/>
            <a:ext cx="4820920" cy="3383280"/>
          </a:xfrm>
          <a:prstGeom prst="rect">
            <a:avLst/>
          </a:prstGeom>
        </p:spPr>
      </p:pic>
    </p:spTree>
    <p:extLst>
      <p:ext uri="{BB962C8B-B14F-4D97-AF65-F5344CB8AC3E}">
        <p14:creationId xmlns:p14="http://schemas.microsoft.com/office/powerpoint/2010/main" val="3227857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9D858-B8C6-66BA-A453-3EFFA2F5454C}"/>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32660EE9-EC88-F2F7-8241-8E42840845F4}"/>
              </a:ext>
            </a:extLst>
          </p:cNvPr>
          <p:cNvSpPr/>
          <p:nvPr/>
        </p:nvSpPr>
        <p:spPr>
          <a:xfrm>
            <a:off x="802465" y="532317"/>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System Architecture</a:t>
            </a:r>
          </a:p>
        </p:txBody>
      </p:sp>
      <p:pic>
        <p:nvPicPr>
          <p:cNvPr id="2" name="Picture 1" descr="Logo&#10;&#10;Description automatically generated">
            <a:extLst>
              <a:ext uri="{FF2B5EF4-FFF2-40B4-BE49-F238E27FC236}">
                <a16:creationId xmlns:a16="http://schemas.microsoft.com/office/drawing/2014/main" id="{32685EA5-187E-D7D8-4DEE-6C2ADB374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0BFCC09-C6D5-032E-7DF8-A7447A94456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1207321-55D4-CDA0-F344-F73411D70E02}"/>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4" name="TextBox 3">
            <a:extLst>
              <a:ext uri="{FF2B5EF4-FFF2-40B4-BE49-F238E27FC236}">
                <a16:creationId xmlns:a16="http://schemas.microsoft.com/office/drawing/2014/main" id="{F1AE8CCE-274F-0CB6-0074-06BF357DB533}"/>
              </a:ext>
            </a:extLst>
          </p:cNvPr>
          <p:cNvSpPr txBox="1"/>
          <p:nvPr/>
        </p:nvSpPr>
        <p:spPr>
          <a:xfrm>
            <a:off x="1043096" y="1450826"/>
            <a:ext cx="6759784" cy="440120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800" dirty="0"/>
              <a:t>Angular frontend communicates with backend using REST APIs</a:t>
            </a:r>
          </a:p>
          <a:p>
            <a:pPr marL="342900" lvl="0" indent="-342900">
              <a:buFont typeface="Arial" panose="020B0604020202020204" pitchFamily="34" charset="0"/>
              <a:buChar char="•"/>
            </a:pPr>
            <a:r>
              <a:rPr lang="en-IN" sz="2800" dirty="0"/>
              <a:t>Spring Boot backend handles business logic</a:t>
            </a:r>
          </a:p>
          <a:p>
            <a:pPr marL="342900" lvl="0" indent="-342900">
              <a:buFont typeface="Arial" panose="020B0604020202020204" pitchFamily="34" charset="0"/>
              <a:buChar char="•"/>
            </a:pPr>
            <a:r>
              <a:rPr lang="en-IN" sz="2800" dirty="0"/>
              <a:t>Spring Data JPA manages database operations</a:t>
            </a:r>
          </a:p>
          <a:p>
            <a:pPr marL="342900" lvl="0" indent="-342900">
              <a:buFont typeface="Arial" panose="020B0604020202020204" pitchFamily="34" charset="0"/>
              <a:buChar char="•"/>
            </a:pPr>
            <a:r>
              <a:rPr lang="en-IN" sz="2800" dirty="0"/>
              <a:t>MySQL stores user and task data</a:t>
            </a:r>
          </a:p>
          <a:p>
            <a:pPr marL="342900" lvl="0" indent="-342900">
              <a:buFont typeface="Arial" panose="020B0604020202020204" pitchFamily="34" charset="0"/>
              <a:buChar char="•"/>
            </a:pPr>
            <a:r>
              <a:rPr lang="en-IN" sz="2800" dirty="0"/>
              <a:t>Docker containerizes the backend</a:t>
            </a:r>
          </a:p>
          <a:p>
            <a:pPr marL="342900" lvl="0" indent="-342900">
              <a:buFont typeface="Arial" panose="020B0604020202020204" pitchFamily="34" charset="0"/>
              <a:buChar char="•"/>
            </a:pPr>
            <a:r>
              <a:rPr lang="en-IN" sz="2800" dirty="0"/>
              <a:t>Azure hosts the containerized application</a:t>
            </a:r>
          </a:p>
        </p:txBody>
      </p:sp>
      <p:pic>
        <p:nvPicPr>
          <p:cNvPr id="7" name="Picture 6">
            <a:extLst>
              <a:ext uri="{FF2B5EF4-FFF2-40B4-BE49-F238E27FC236}">
                <a16:creationId xmlns:a16="http://schemas.microsoft.com/office/drawing/2014/main" id="{92B535ED-0EBA-596E-A4F9-EDDE1F79CD24}"/>
              </a:ext>
            </a:extLst>
          </p:cNvPr>
          <p:cNvPicPr>
            <a:picLocks noChangeAspect="1"/>
          </p:cNvPicPr>
          <p:nvPr/>
        </p:nvPicPr>
        <p:blipFill>
          <a:blip r:embed="rId3">
            <a:extLst>
              <a:ext uri="{28A0092B-C50C-407E-A947-70E740481C1C}">
                <a14:useLocalDpi xmlns:a14="http://schemas.microsoft.com/office/drawing/2010/main" val="0"/>
              </a:ext>
            </a:extLst>
          </a:blip>
          <a:srcRect t="10786" b="8044"/>
          <a:stretch>
            <a:fillRect/>
          </a:stretch>
        </p:blipFill>
        <p:spPr>
          <a:xfrm>
            <a:off x="7582746" y="1107439"/>
            <a:ext cx="3959014" cy="4820299"/>
          </a:xfrm>
          <a:prstGeom prst="rect">
            <a:avLst/>
          </a:prstGeom>
        </p:spPr>
      </p:pic>
    </p:spTree>
    <p:extLst>
      <p:ext uri="{BB962C8B-B14F-4D97-AF65-F5344CB8AC3E}">
        <p14:creationId xmlns:p14="http://schemas.microsoft.com/office/powerpoint/2010/main" val="1626862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8064-3DB8-DD03-2CA2-3AB613DF8DFE}"/>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24B8E36-4151-A758-4C37-6155D1831E26}"/>
              </a:ext>
            </a:extLst>
          </p:cNvPr>
          <p:cNvSpPr/>
          <p:nvPr/>
        </p:nvSpPr>
        <p:spPr>
          <a:xfrm>
            <a:off x="650147" y="37173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Core Functionalities</a:t>
            </a:r>
          </a:p>
        </p:txBody>
      </p:sp>
      <p:pic>
        <p:nvPicPr>
          <p:cNvPr id="2" name="Picture 1" descr="Logo&#10;&#10;Description automatically generated">
            <a:extLst>
              <a:ext uri="{FF2B5EF4-FFF2-40B4-BE49-F238E27FC236}">
                <a16:creationId xmlns:a16="http://schemas.microsoft.com/office/drawing/2014/main" id="{CB995443-08F1-905B-C937-34B110C9E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ADD31D4-C215-191C-D25F-1FD3541AAD8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7D47313-44DA-44EF-A392-F43C201DA733}"/>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4" name="TextBox 3">
            <a:extLst>
              <a:ext uri="{FF2B5EF4-FFF2-40B4-BE49-F238E27FC236}">
                <a16:creationId xmlns:a16="http://schemas.microsoft.com/office/drawing/2014/main" id="{AF06E84B-DF70-782D-C3A6-5764ECFA02DF}"/>
              </a:ext>
            </a:extLst>
          </p:cNvPr>
          <p:cNvSpPr txBox="1"/>
          <p:nvPr/>
        </p:nvSpPr>
        <p:spPr>
          <a:xfrm>
            <a:off x="1074353" y="1373428"/>
            <a:ext cx="6590712" cy="338554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800" dirty="0"/>
              <a:t>User login and authentication</a:t>
            </a:r>
          </a:p>
          <a:p>
            <a:pPr marL="342900" lvl="0" indent="-342900">
              <a:buFont typeface="Arial" panose="020B0604020202020204" pitchFamily="34" charset="0"/>
              <a:buChar char="•"/>
            </a:pPr>
            <a:r>
              <a:rPr lang="en-IN" sz="2800" dirty="0"/>
              <a:t>Create new tasks</a:t>
            </a:r>
          </a:p>
          <a:p>
            <a:pPr marL="342900" lvl="0" indent="-342900">
              <a:buFont typeface="Arial" panose="020B0604020202020204" pitchFamily="34" charset="0"/>
              <a:buChar char="•"/>
            </a:pPr>
            <a:r>
              <a:rPr lang="en-IN" sz="2800" dirty="0"/>
              <a:t>Edit existing tasks</a:t>
            </a:r>
          </a:p>
          <a:p>
            <a:pPr marL="342900" lvl="0" indent="-342900">
              <a:buFont typeface="Arial" panose="020B0604020202020204" pitchFamily="34" charset="0"/>
              <a:buChar char="•"/>
            </a:pPr>
            <a:r>
              <a:rPr lang="en-IN" sz="2800" dirty="0"/>
              <a:t>Delete tasks</a:t>
            </a:r>
          </a:p>
          <a:p>
            <a:pPr marL="342900" lvl="0" indent="-342900">
              <a:buFont typeface="Arial" panose="020B0604020202020204" pitchFamily="34" charset="0"/>
              <a:buChar char="•"/>
            </a:pPr>
            <a:r>
              <a:rPr lang="en-IN" sz="2800" dirty="0"/>
              <a:t>Mark tasks as </a:t>
            </a:r>
            <a:r>
              <a:rPr lang="en-IN" sz="2800" b="1" dirty="0"/>
              <a:t>Completed / Pending</a:t>
            </a:r>
            <a:endParaRPr lang="en-IN" sz="2800" dirty="0"/>
          </a:p>
          <a:p>
            <a:pPr marL="342900" lvl="0" indent="-342900">
              <a:buFont typeface="Arial" panose="020B0604020202020204" pitchFamily="34" charset="0"/>
              <a:buChar char="•"/>
            </a:pPr>
            <a:r>
              <a:rPr lang="en-IN" sz="2800" dirty="0"/>
              <a:t>Filter tasks by status</a:t>
            </a:r>
          </a:p>
          <a:p>
            <a:pPr marL="342900" lvl="0" indent="-342900">
              <a:buFont typeface="Arial" panose="020B0604020202020204" pitchFamily="34" charset="0"/>
              <a:buChar char="•"/>
            </a:pPr>
            <a:r>
              <a:rPr lang="en-IN" sz="2800" dirty="0"/>
              <a:t>Sort tasks by due date</a:t>
            </a:r>
          </a:p>
          <a:p>
            <a:endParaRPr lang="en-US" dirty="0">
              <a:solidFill>
                <a:srgbClr val="0187CC"/>
              </a:solidFill>
              <a:latin typeface="HK Grotesk"/>
            </a:endParaRPr>
          </a:p>
        </p:txBody>
      </p:sp>
    </p:spTree>
    <p:extLst>
      <p:ext uri="{BB962C8B-B14F-4D97-AF65-F5344CB8AC3E}">
        <p14:creationId xmlns:p14="http://schemas.microsoft.com/office/powerpoint/2010/main" val="1374496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2F59-3513-F709-75D4-4A372F99EC6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C16B8CFA-75AD-C948-F558-D94CDC8B074A}"/>
              </a:ext>
            </a:extLst>
          </p:cNvPr>
          <p:cNvSpPr/>
          <p:nvPr/>
        </p:nvSpPr>
        <p:spPr>
          <a:xfrm>
            <a:off x="722253" y="48419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1BF30C1A-3399-73B9-412D-F32FEAD46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E654D44-2C57-B42C-5EFD-2B535114383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8D490440-F5BA-2004-8132-73A6F866BBE8}"/>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sp>
        <p:nvSpPr>
          <p:cNvPr id="4" name="TextBox 3">
            <a:extLst>
              <a:ext uri="{FF2B5EF4-FFF2-40B4-BE49-F238E27FC236}">
                <a16:creationId xmlns:a16="http://schemas.microsoft.com/office/drawing/2014/main" id="{50864C3D-EFFA-BCF2-5018-AFD1C1A9222C}"/>
              </a:ext>
            </a:extLst>
          </p:cNvPr>
          <p:cNvSpPr txBox="1"/>
          <p:nvPr/>
        </p:nvSpPr>
        <p:spPr>
          <a:xfrm>
            <a:off x="834547" y="1386658"/>
            <a:ext cx="9528651" cy="267765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IN" sz="2800" dirty="0"/>
              <a:t>Developed using Angular</a:t>
            </a:r>
          </a:p>
          <a:p>
            <a:pPr marL="457200" lvl="0" indent="-457200">
              <a:buFont typeface="Arial" panose="020B0604020202020204" pitchFamily="34" charset="0"/>
              <a:buChar char="•"/>
            </a:pPr>
            <a:r>
              <a:rPr lang="en-IN" sz="2800" dirty="0"/>
              <a:t>Responsive UI with clean layout</a:t>
            </a:r>
          </a:p>
          <a:p>
            <a:pPr marL="457200" lvl="0" indent="-457200">
              <a:buFont typeface="Arial" panose="020B0604020202020204" pitchFamily="34" charset="0"/>
              <a:buChar char="•"/>
            </a:pPr>
            <a:r>
              <a:rPr lang="en-IN" sz="2800" dirty="0"/>
              <a:t>Forms for task creation and update</a:t>
            </a:r>
          </a:p>
          <a:p>
            <a:pPr marL="457200" lvl="0" indent="-457200">
              <a:buFont typeface="Arial" panose="020B0604020202020204" pitchFamily="34" charset="0"/>
              <a:buChar char="•"/>
            </a:pPr>
            <a:r>
              <a:rPr lang="en-IN" sz="2800" dirty="0"/>
              <a:t>Filters for task status</a:t>
            </a:r>
          </a:p>
          <a:p>
            <a:pPr marL="457200" lvl="0" indent="-457200">
              <a:buFont typeface="Arial" panose="020B0604020202020204" pitchFamily="34" charset="0"/>
              <a:buChar char="•"/>
            </a:pPr>
            <a:r>
              <a:rPr lang="en-IN" sz="2800" dirty="0"/>
              <a:t>Theme toggle (Light / Dark mode)</a:t>
            </a:r>
          </a:p>
          <a:p>
            <a:pPr marL="457200" lvl="0" indent="-457200">
              <a:buFont typeface="Arial" panose="020B0604020202020204" pitchFamily="34" charset="0"/>
              <a:buChar char="•"/>
            </a:pPr>
            <a:r>
              <a:rPr lang="en-IN" sz="2800" dirty="0"/>
              <a:t>Communicates with backend using </a:t>
            </a:r>
            <a:r>
              <a:rPr lang="en-IN" sz="2800" dirty="0" err="1"/>
              <a:t>HttpClient</a:t>
            </a:r>
            <a:endParaRPr lang="en-IN" sz="2800" dirty="0"/>
          </a:p>
        </p:txBody>
      </p:sp>
    </p:spTree>
    <p:extLst>
      <p:ext uri="{BB962C8B-B14F-4D97-AF65-F5344CB8AC3E}">
        <p14:creationId xmlns:p14="http://schemas.microsoft.com/office/powerpoint/2010/main" val="3454202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E37C-A07E-57D3-3226-AB37B4C44FC9}"/>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637E9E59-F7D6-6D64-FDDF-A84672088692}"/>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Implementation</a:t>
            </a:r>
          </a:p>
        </p:txBody>
      </p:sp>
      <p:pic>
        <p:nvPicPr>
          <p:cNvPr id="2" name="Picture 1" descr="Logo&#10;&#10;Description automatically generated">
            <a:extLst>
              <a:ext uri="{FF2B5EF4-FFF2-40B4-BE49-F238E27FC236}">
                <a16:creationId xmlns:a16="http://schemas.microsoft.com/office/drawing/2014/main" id="{306FC102-BCCD-CA9C-9D80-750131FC4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B4627A6-0A35-4703-BDEF-507E90ACCBB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848DA9B8-F425-F5C0-C461-AC2EC249C43B}"/>
              </a:ext>
            </a:extLst>
          </p:cNvPr>
          <p:cNvSpPr>
            <a:spLocks noGrp="1"/>
          </p:cNvSpPr>
          <p:nvPr>
            <p:ph type="sldNum" sz="quarter" idx="12"/>
          </p:nvPr>
        </p:nvSpPr>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7" name="TextBox 6">
            <a:extLst>
              <a:ext uri="{FF2B5EF4-FFF2-40B4-BE49-F238E27FC236}">
                <a16:creationId xmlns:a16="http://schemas.microsoft.com/office/drawing/2014/main" id="{DEBE0AFA-781C-7258-9095-9E7A0C22ED4E}"/>
              </a:ext>
            </a:extLst>
          </p:cNvPr>
          <p:cNvSpPr txBox="1"/>
          <p:nvPr/>
        </p:nvSpPr>
        <p:spPr>
          <a:xfrm>
            <a:off x="1127760" y="1204298"/>
            <a:ext cx="5039360" cy="3416320"/>
          </a:xfrm>
          <a:prstGeom prst="rect">
            <a:avLst/>
          </a:prstGeom>
          <a:noFill/>
        </p:spPr>
        <p:txBody>
          <a:bodyPr wrap="square">
            <a:spAutoFit/>
          </a:bodyPr>
          <a:lstStyle/>
          <a:p>
            <a:pPr marL="285750" indent="-285750">
              <a:buFont typeface="Arial" panose="020B0604020202020204" pitchFamily="34" charset="0"/>
              <a:buChar char="•"/>
            </a:pPr>
            <a:r>
              <a:rPr lang="en-IN" sz="2400" dirty="0"/>
              <a:t>Developed using Spring Boot</a:t>
            </a:r>
          </a:p>
          <a:p>
            <a:pPr marL="285750" indent="-285750">
              <a:buFont typeface="Arial" panose="020B0604020202020204" pitchFamily="34" charset="0"/>
              <a:buChar char="•"/>
            </a:pPr>
            <a:r>
              <a:rPr lang="en-IN" sz="2400" dirty="0"/>
              <a:t>REST APIs created for all CRUD operations</a:t>
            </a:r>
          </a:p>
          <a:p>
            <a:pPr marL="285750" indent="-285750">
              <a:buFont typeface="Arial" panose="020B0604020202020204" pitchFamily="34" charset="0"/>
              <a:buChar char="•"/>
            </a:pPr>
            <a:r>
              <a:rPr lang="en-IN" sz="2400" dirty="0"/>
              <a:t>Controllers handle HTTP requests</a:t>
            </a:r>
          </a:p>
          <a:p>
            <a:pPr marL="285750" indent="-285750">
              <a:buFont typeface="Arial" panose="020B0604020202020204" pitchFamily="34" charset="0"/>
              <a:buChar char="•"/>
            </a:pPr>
            <a:r>
              <a:rPr lang="en-IN" sz="2400" dirty="0"/>
              <a:t>Services contain business logic</a:t>
            </a:r>
          </a:p>
          <a:p>
            <a:pPr marL="285750" indent="-285750">
              <a:buFont typeface="Arial" panose="020B0604020202020204" pitchFamily="34" charset="0"/>
              <a:buChar char="•"/>
            </a:pPr>
            <a:r>
              <a:rPr lang="en-IN" sz="2400" dirty="0"/>
              <a:t>Repositories interact with database</a:t>
            </a:r>
          </a:p>
          <a:p>
            <a:pPr marL="285750" indent="-285750">
              <a:buFont typeface="Arial" panose="020B0604020202020204" pitchFamily="34" charset="0"/>
              <a:buChar char="•"/>
            </a:pPr>
            <a:r>
              <a:rPr lang="en-IN" sz="2400" dirty="0"/>
              <a:t>Uses Spring Data JPA for persistence</a:t>
            </a:r>
          </a:p>
        </p:txBody>
      </p:sp>
      <p:pic>
        <p:nvPicPr>
          <p:cNvPr id="9" name="Picture 8">
            <a:extLst>
              <a:ext uri="{FF2B5EF4-FFF2-40B4-BE49-F238E27FC236}">
                <a16:creationId xmlns:a16="http://schemas.microsoft.com/office/drawing/2014/main" id="{16C047C2-14AB-A8DC-231F-3DD5326BF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3536" y="1432560"/>
            <a:ext cx="4860544" cy="3037840"/>
          </a:xfrm>
          <a:prstGeom prst="rect">
            <a:avLst/>
          </a:prstGeom>
        </p:spPr>
      </p:pic>
    </p:spTree>
    <p:extLst>
      <p:ext uri="{BB962C8B-B14F-4D97-AF65-F5344CB8AC3E}">
        <p14:creationId xmlns:p14="http://schemas.microsoft.com/office/powerpoint/2010/main" val="1713466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5D9E1-4E6E-0A3E-3561-32BF3B85AF48}"/>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ECE95788-F5CE-A12B-742D-DCD94526C38F}"/>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and Frontend Versions</a:t>
            </a:r>
          </a:p>
        </p:txBody>
      </p:sp>
      <p:pic>
        <p:nvPicPr>
          <p:cNvPr id="2" name="Picture 1" descr="Logo&#10;&#10;Description automatically generated">
            <a:extLst>
              <a:ext uri="{FF2B5EF4-FFF2-40B4-BE49-F238E27FC236}">
                <a16:creationId xmlns:a16="http://schemas.microsoft.com/office/drawing/2014/main" id="{70E4FCF3-0445-1620-D5EF-FF3CDB471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83035D1-4CB6-0F82-F2A4-D5A63C04B18B}"/>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542E9B8-7F50-883B-2F9C-E8B886CE50D8}"/>
              </a:ext>
            </a:extLst>
          </p:cNvPr>
          <p:cNvSpPr>
            <a:spLocks noGrp="1"/>
          </p:cNvSpPr>
          <p:nvPr>
            <p:ph type="sldNum" sz="quarter" idx="12"/>
          </p:nvPr>
        </p:nvSpPr>
        <p:spPr/>
        <p:txBody>
          <a:bodyPr/>
          <a:lstStyle/>
          <a:p>
            <a:fld id="{C8F35010-364B-470B-BB6C-DCBBE63D2E54}" type="slidenum">
              <a:rPr lang="en-US" smtClean="0">
                <a:solidFill>
                  <a:schemeClr val="tx1"/>
                </a:solidFill>
              </a:rPr>
              <a:t>8</a:t>
            </a:fld>
            <a:endParaRPr lang="en-US" dirty="0">
              <a:solidFill>
                <a:schemeClr val="tx1"/>
              </a:solidFill>
            </a:endParaRPr>
          </a:p>
        </p:txBody>
      </p:sp>
      <p:pic>
        <p:nvPicPr>
          <p:cNvPr id="4" name="Picture 3">
            <a:extLst>
              <a:ext uri="{FF2B5EF4-FFF2-40B4-BE49-F238E27FC236}">
                <a16:creationId xmlns:a16="http://schemas.microsoft.com/office/drawing/2014/main" id="{2D534CAC-682B-0340-8F24-ED4F90931424}"/>
              </a:ext>
            </a:extLst>
          </p:cNvPr>
          <p:cNvPicPr>
            <a:picLocks noChangeAspect="1"/>
          </p:cNvPicPr>
          <p:nvPr/>
        </p:nvPicPr>
        <p:blipFill>
          <a:blip r:embed="rId3"/>
          <a:stretch>
            <a:fillRect/>
          </a:stretch>
        </p:blipFill>
        <p:spPr>
          <a:xfrm>
            <a:off x="1288322" y="1253975"/>
            <a:ext cx="9098611" cy="4241852"/>
          </a:xfrm>
          <a:prstGeom prst="rect">
            <a:avLst/>
          </a:prstGeom>
        </p:spPr>
      </p:pic>
    </p:spTree>
    <p:extLst>
      <p:ext uri="{BB962C8B-B14F-4D97-AF65-F5344CB8AC3E}">
        <p14:creationId xmlns:p14="http://schemas.microsoft.com/office/powerpoint/2010/main" val="349509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3B598-CEB1-970A-1554-0A1972BF8ED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B5C279F6-E2F0-A4A7-BFE7-B1872E5A9758}"/>
              </a:ext>
            </a:extLst>
          </p:cNvPr>
          <p:cNvSpPr/>
          <p:nvPr/>
        </p:nvSpPr>
        <p:spPr>
          <a:xfrm>
            <a:off x="722253" y="48419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99AFA44A-5A90-3F9F-5961-360B1242D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AEEEB95-8B79-0369-05E9-40710CB06C5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B0659B6-138C-767A-5883-607E6E4498F8}"/>
              </a:ext>
            </a:extLst>
          </p:cNvPr>
          <p:cNvSpPr>
            <a:spLocks noGrp="1"/>
          </p:cNvSpPr>
          <p:nvPr>
            <p:ph type="sldNum" sz="quarter" idx="12"/>
          </p:nvPr>
        </p:nvSpPr>
        <p:spPr/>
        <p:txBody>
          <a:bodyPr/>
          <a:lstStyle/>
          <a:p>
            <a:fld id="{C8F35010-364B-470B-BB6C-DCBBE63D2E54}" type="slidenum">
              <a:rPr lang="en-US" smtClean="0">
                <a:solidFill>
                  <a:schemeClr val="tx1"/>
                </a:solidFill>
              </a:rPr>
              <a:t>9</a:t>
            </a:fld>
            <a:endParaRPr lang="en-US" dirty="0">
              <a:solidFill>
                <a:schemeClr val="tx1"/>
              </a:solidFill>
            </a:endParaRPr>
          </a:p>
        </p:txBody>
      </p:sp>
      <p:pic>
        <p:nvPicPr>
          <p:cNvPr id="9" name="Picture 8">
            <a:extLst>
              <a:ext uri="{FF2B5EF4-FFF2-40B4-BE49-F238E27FC236}">
                <a16:creationId xmlns:a16="http://schemas.microsoft.com/office/drawing/2014/main" id="{D16EF662-0988-D495-B74A-C257F2239F86}"/>
              </a:ext>
            </a:extLst>
          </p:cNvPr>
          <p:cNvPicPr>
            <a:picLocks noChangeAspect="1"/>
          </p:cNvPicPr>
          <p:nvPr/>
        </p:nvPicPr>
        <p:blipFill>
          <a:blip r:embed="rId3"/>
          <a:stretch>
            <a:fillRect/>
          </a:stretch>
        </p:blipFill>
        <p:spPr>
          <a:xfrm>
            <a:off x="1330583" y="1532350"/>
            <a:ext cx="9296777" cy="4736370"/>
          </a:xfrm>
          <a:prstGeom prst="rect">
            <a:avLst/>
          </a:prstGeom>
        </p:spPr>
      </p:pic>
      <p:sp>
        <p:nvSpPr>
          <p:cNvPr id="10" name="TextBox 9">
            <a:extLst>
              <a:ext uri="{FF2B5EF4-FFF2-40B4-BE49-F238E27FC236}">
                <a16:creationId xmlns:a16="http://schemas.microsoft.com/office/drawing/2014/main" id="{5752FCA4-AB2D-670F-EEE9-7521211D0233}"/>
              </a:ext>
            </a:extLst>
          </p:cNvPr>
          <p:cNvSpPr txBox="1"/>
          <p:nvPr/>
        </p:nvSpPr>
        <p:spPr>
          <a:xfrm>
            <a:off x="915827" y="1051378"/>
            <a:ext cx="221345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Register Page</a:t>
            </a:r>
            <a:endParaRPr lang="en-IN" dirty="0"/>
          </a:p>
        </p:txBody>
      </p:sp>
    </p:spTree>
    <p:extLst>
      <p:ext uri="{BB962C8B-B14F-4D97-AF65-F5344CB8AC3E}">
        <p14:creationId xmlns:p14="http://schemas.microsoft.com/office/powerpoint/2010/main" val="285170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42EA2-0542-6588-A76E-3FF93ACBE14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BC28578-AD18-1B60-2AD4-8B5F4EB7794F}"/>
              </a:ext>
            </a:extLst>
          </p:cNvPr>
          <p:cNvSpPr/>
          <p:nvPr/>
        </p:nvSpPr>
        <p:spPr>
          <a:xfrm>
            <a:off x="559693" y="30131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51D1ED06-0221-280E-7BA3-A8CBDC46D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E58F551-C6F4-6AE2-4599-2A0A2EAC142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03FBD37-06D4-4776-922A-675967AC96A1}"/>
              </a:ext>
            </a:extLst>
          </p:cNvPr>
          <p:cNvSpPr>
            <a:spLocks noGrp="1"/>
          </p:cNvSpPr>
          <p:nvPr>
            <p:ph type="sldNum" sz="quarter" idx="12"/>
          </p:nvPr>
        </p:nvSpPr>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4" name="TextBox 3">
            <a:extLst>
              <a:ext uri="{FF2B5EF4-FFF2-40B4-BE49-F238E27FC236}">
                <a16:creationId xmlns:a16="http://schemas.microsoft.com/office/drawing/2014/main" id="{AA8D38C9-AD23-7F59-7CA0-001B49B32C7F}"/>
              </a:ext>
            </a:extLst>
          </p:cNvPr>
          <p:cNvSpPr txBox="1"/>
          <p:nvPr/>
        </p:nvSpPr>
        <p:spPr>
          <a:xfrm>
            <a:off x="1037747" y="970098"/>
            <a:ext cx="137017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Login Page</a:t>
            </a:r>
            <a:endParaRPr lang="en-IN" dirty="0"/>
          </a:p>
        </p:txBody>
      </p:sp>
      <p:pic>
        <p:nvPicPr>
          <p:cNvPr id="9" name="Picture 8">
            <a:extLst>
              <a:ext uri="{FF2B5EF4-FFF2-40B4-BE49-F238E27FC236}">
                <a16:creationId xmlns:a16="http://schemas.microsoft.com/office/drawing/2014/main" id="{81444B44-B4B8-EF01-D1BC-7CFD480D8C75}"/>
              </a:ext>
            </a:extLst>
          </p:cNvPr>
          <p:cNvPicPr>
            <a:picLocks noChangeAspect="1"/>
          </p:cNvPicPr>
          <p:nvPr/>
        </p:nvPicPr>
        <p:blipFill>
          <a:blip r:embed="rId3"/>
          <a:srcRect b="4571"/>
          <a:stretch>
            <a:fillRect/>
          </a:stretch>
        </p:blipFill>
        <p:spPr>
          <a:xfrm>
            <a:off x="1483360" y="1465655"/>
            <a:ext cx="8768080" cy="4535655"/>
          </a:xfrm>
          <a:prstGeom prst="rect">
            <a:avLst/>
          </a:prstGeom>
        </p:spPr>
      </p:pic>
    </p:spTree>
    <p:extLst>
      <p:ext uri="{BB962C8B-B14F-4D97-AF65-F5344CB8AC3E}">
        <p14:creationId xmlns:p14="http://schemas.microsoft.com/office/powerpoint/2010/main" val="1645749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54B5-1E2D-6582-BEAB-2CA10B270BC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B72E9B93-E7E1-A52F-CDA5-164A7BBA73AF}"/>
              </a:ext>
            </a:extLst>
          </p:cNvPr>
          <p:cNvSpPr/>
          <p:nvPr/>
        </p:nvSpPr>
        <p:spPr>
          <a:xfrm>
            <a:off x="632419" y="38686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AB630603-C9CB-386D-8B0C-0866AC608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2DB2A2E-C9F8-13AF-C470-4217E127A25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CC8CC76-4B6B-494D-A3C6-9B9EC8431540}"/>
              </a:ext>
            </a:extLst>
          </p:cNvPr>
          <p:cNvSpPr>
            <a:spLocks noGrp="1"/>
          </p:cNvSpPr>
          <p:nvPr>
            <p:ph type="sldNum" sz="quarter" idx="12"/>
          </p:nvPr>
        </p:nvSpPr>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4" name="TextBox 3">
            <a:extLst>
              <a:ext uri="{FF2B5EF4-FFF2-40B4-BE49-F238E27FC236}">
                <a16:creationId xmlns:a16="http://schemas.microsoft.com/office/drawing/2014/main" id="{8D9E6188-CC18-B404-58AB-7142693EEBF8}"/>
              </a:ext>
            </a:extLst>
          </p:cNvPr>
          <p:cNvSpPr txBox="1"/>
          <p:nvPr/>
        </p:nvSpPr>
        <p:spPr>
          <a:xfrm>
            <a:off x="909411" y="991488"/>
            <a:ext cx="23316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Task List Page</a:t>
            </a:r>
            <a:endParaRPr lang="en-IN" dirty="0"/>
          </a:p>
        </p:txBody>
      </p:sp>
      <p:pic>
        <p:nvPicPr>
          <p:cNvPr id="9" name="Picture 8">
            <a:extLst>
              <a:ext uri="{FF2B5EF4-FFF2-40B4-BE49-F238E27FC236}">
                <a16:creationId xmlns:a16="http://schemas.microsoft.com/office/drawing/2014/main" id="{124193E2-7602-94C4-E3D1-574B0ADE5E51}"/>
              </a:ext>
            </a:extLst>
          </p:cNvPr>
          <p:cNvPicPr>
            <a:picLocks noChangeAspect="1"/>
          </p:cNvPicPr>
          <p:nvPr/>
        </p:nvPicPr>
        <p:blipFill>
          <a:blip r:embed="rId3"/>
          <a:stretch>
            <a:fillRect/>
          </a:stretch>
        </p:blipFill>
        <p:spPr>
          <a:xfrm>
            <a:off x="1219200" y="1495663"/>
            <a:ext cx="9347200" cy="4802733"/>
          </a:xfrm>
          <a:prstGeom prst="rect">
            <a:avLst/>
          </a:prstGeom>
        </p:spPr>
      </p:pic>
    </p:spTree>
    <p:extLst>
      <p:ext uri="{BB962C8B-B14F-4D97-AF65-F5344CB8AC3E}">
        <p14:creationId xmlns:p14="http://schemas.microsoft.com/office/powerpoint/2010/main" val="3738631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4B452-8932-2445-9144-BC337AF49848}"/>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30ECA3F2-75AD-2207-1F29-EBC258AB6853}"/>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Implementation</a:t>
            </a:r>
          </a:p>
        </p:txBody>
      </p:sp>
      <p:pic>
        <p:nvPicPr>
          <p:cNvPr id="2" name="Picture 1" descr="Logo&#10;&#10;Description automatically generated">
            <a:extLst>
              <a:ext uri="{FF2B5EF4-FFF2-40B4-BE49-F238E27FC236}">
                <a16:creationId xmlns:a16="http://schemas.microsoft.com/office/drawing/2014/main" id="{842C4C0C-A266-B06B-8A16-E1829CE2A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85D5171-F146-F699-2CDF-E4833C4429F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59841DE-95CD-9C53-CB3D-71665376B2FB}"/>
              </a:ext>
            </a:extLst>
          </p:cNvPr>
          <p:cNvSpPr>
            <a:spLocks noGrp="1"/>
          </p:cNvSpPr>
          <p:nvPr>
            <p:ph type="sldNum" sz="quarter" idx="12"/>
          </p:nvPr>
        </p:nvSpPr>
        <p:spPr/>
        <p:txBody>
          <a:bodyPr/>
          <a:lstStyle/>
          <a:p>
            <a:fld id="{C8F35010-364B-470B-BB6C-DCBBE63D2E54}" type="slidenum">
              <a:rPr lang="en-US" smtClean="0">
                <a:solidFill>
                  <a:schemeClr val="tx1"/>
                </a:solidFill>
              </a:rPr>
              <a:t>12</a:t>
            </a:fld>
            <a:endParaRPr lang="en-US" dirty="0">
              <a:solidFill>
                <a:schemeClr val="tx1"/>
              </a:solidFill>
            </a:endParaRPr>
          </a:p>
        </p:txBody>
      </p:sp>
      <p:pic>
        <p:nvPicPr>
          <p:cNvPr id="5" name="Picture 4">
            <a:extLst>
              <a:ext uri="{FF2B5EF4-FFF2-40B4-BE49-F238E27FC236}">
                <a16:creationId xmlns:a16="http://schemas.microsoft.com/office/drawing/2014/main" id="{917DBC6B-8F9C-1A66-9F65-A37476D1B0D7}"/>
              </a:ext>
            </a:extLst>
          </p:cNvPr>
          <p:cNvPicPr>
            <a:picLocks noChangeAspect="1"/>
          </p:cNvPicPr>
          <p:nvPr/>
        </p:nvPicPr>
        <p:blipFill>
          <a:blip r:embed="rId3"/>
          <a:stretch>
            <a:fillRect/>
          </a:stretch>
        </p:blipFill>
        <p:spPr>
          <a:xfrm>
            <a:off x="1382593" y="1450290"/>
            <a:ext cx="8339638" cy="4441462"/>
          </a:xfrm>
          <a:prstGeom prst="rect">
            <a:avLst/>
          </a:prstGeom>
        </p:spPr>
      </p:pic>
    </p:spTree>
    <p:extLst>
      <p:ext uri="{BB962C8B-B14F-4D97-AF65-F5344CB8AC3E}">
        <p14:creationId xmlns:p14="http://schemas.microsoft.com/office/powerpoint/2010/main" val="4086853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49CC-EFF8-CADE-EE5F-E943F085C5D8}"/>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B63CFF7E-83E4-E354-2F4E-039451AB5E68}"/>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Implementation</a:t>
            </a:r>
          </a:p>
        </p:txBody>
      </p:sp>
      <p:pic>
        <p:nvPicPr>
          <p:cNvPr id="2" name="Picture 1" descr="Logo&#10;&#10;Description automatically generated">
            <a:extLst>
              <a:ext uri="{FF2B5EF4-FFF2-40B4-BE49-F238E27FC236}">
                <a16:creationId xmlns:a16="http://schemas.microsoft.com/office/drawing/2014/main" id="{7454625C-A526-156F-237F-DF95BD176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E2BF49D-20EE-3833-478B-22737ED9DBD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8D3BDC0-6750-32A9-DD70-667628FBBE79}"/>
              </a:ext>
            </a:extLst>
          </p:cNvPr>
          <p:cNvSpPr>
            <a:spLocks noGrp="1"/>
          </p:cNvSpPr>
          <p:nvPr>
            <p:ph type="sldNum" sz="quarter" idx="12"/>
          </p:nvPr>
        </p:nvSpPr>
        <p:spPr/>
        <p:txBody>
          <a:bodyPr/>
          <a:lstStyle/>
          <a:p>
            <a:fld id="{C8F35010-364B-470B-BB6C-DCBBE63D2E54}" type="slidenum">
              <a:rPr lang="en-US" smtClean="0">
                <a:solidFill>
                  <a:schemeClr val="tx1"/>
                </a:solidFill>
              </a:rPr>
              <a:t>13</a:t>
            </a:fld>
            <a:endParaRPr lang="en-US" dirty="0">
              <a:solidFill>
                <a:schemeClr val="tx1"/>
              </a:solidFill>
            </a:endParaRPr>
          </a:p>
        </p:txBody>
      </p:sp>
      <p:pic>
        <p:nvPicPr>
          <p:cNvPr id="4" name="Picture 3">
            <a:extLst>
              <a:ext uri="{FF2B5EF4-FFF2-40B4-BE49-F238E27FC236}">
                <a16:creationId xmlns:a16="http://schemas.microsoft.com/office/drawing/2014/main" id="{3D8AF7DD-71F4-9DB2-336D-3A71A8BA3992}"/>
              </a:ext>
            </a:extLst>
          </p:cNvPr>
          <p:cNvPicPr>
            <a:picLocks noChangeAspect="1"/>
          </p:cNvPicPr>
          <p:nvPr/>
        </p:nvPicPr>
        <p:blipFill>
          <a:blip r:embed="rId3"/>
          <a:stretch>
            <a:fillRect/>
          </a:stretch>
        </p:blipFill>
        <p:spPr>
          <a:xfrm>
            <a:off x="819810" y="1025303"/>
            <a:ext cx="10051390" cy="5262892"/>
          </a:xfrm>
          <a:prstGeom prst="rect">
            <a:avLst/>
          </a:prstGeom>
        </p:spPr>
      </p:pic>
    </p:spTree>
    <p:extLst>
      <p:ext uri="{BB962C8B-B14F-4D97-AF65-F5344CB8AC3E}">
        <p14:creationId xmlns:p14="http://schemas.microsoft.com/office/powerpoint/2010/main" val="530944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7C61-321E-0891-D211-A37794DEEDCF}"/>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0F3D544-8FE8-FF1A-E06E-E897B6544E92}"/>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F934FF15-9E72-CA7B-9079-E5F03F7E81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010E99D-281F-37A2-8060-A7CF5E4A437A}"/>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23DB110-DEE0-617E-1A39-15D745E5A6F0}"/>
              </a:ext>
            </a:extLst>
          </p:cNvPr>
          <p:cNvSpPr>
            <a:spLocks noGrp="1"/>
          </p:cNvSpPr>
          <p:nvPr>
            <p:ph type="sldNum" sz="quarter" idx="12"/>
          </p:nvPr>
        </p:nvSpPr>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4" name="TextBox 3">
            <a:extLst>
              <a:ext uri="{FF2B5EF4-FFF2-40B4-BE49-F238E27FC236}">
                <a16:creationId xmlns:a16="http://schemas.microsoft.com/office/drawing/2014/main" id="{1D7E028E-3E0C-8C9B-5972-63538DF8C22C}"/>
              </a:ext>
            </a:extLst>
          </p:cNvPr>
          <p:cNvSpPr txBox="1"/>
          <p:nvPr/>
        </p:nvSpPr>
        <p:spPr>
          <a:xfrm>
            <a:off x="713697" y="1120894"/>
            <a:ext cx="420267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POST /</a:t>
            </a:r>
            <a:r>
              <a:rPr lang="en-IN" b="1" dirty="0" err="1">
                <a:latin typeface="HK Grotesk Bold"/>
              </a:rPr>
              <a:t>api</a:t>
            </a:r>
            <a:r>
              <a:rPr lang="en-IN" b="1" dirty="0">
                <a:latin typeface="HK Grotesk Bold"/>
              </a:rPr>
              <a:t>/auth/register – User register</a:t>
            </a:r>
          </a:p>
        </p:txBody>
      </p:sp>
      <p:pic>
        <p:nvPicPr>
          <p:cNvPr id="11" name="Picture 10">
            <a:extLst>
              <a:ext uri="{FF2B5EF4-FFF2-40B4-BE49-F238E27FC236}">
                <a16:creationId xmlns:a16="http://schemas.microsoft.com/office/drawing/2014/main" id="{D61DD8BF-199F-81CC-3366-0451BBDDCFD5}"/>
              </a:ext>
            </a:extLst>
          </p:cNvPr>
          <p:cNvPicPr>
            <a:picLocks noChangeAspect="1"/>
          </p:cNvPicPr>
          <p:nvPr/>
        </p:nvPicPr>
        <p:blipFill>
          <a:blip r:embed="rId3">
            <a:extLst>
              <a:ext uri="{28A0092B-C50C-407E-A947-70E740481C1C}">
                <a14:useLocalDpi xmlns:a14="http://schemas.microsoft.com/office/drawing/2010/main" val="0"/>
              </a:ext>
            </a:extLst>
          </a:blip>
          <a:srcRect b="14736"/>
          <a:stretch>
            <a:fillRect/>
          </a:stretch>
        </p:blipFill>
        <p:spPr>
          <a:xfrm>
            <a:off x="1432560" y="1673225"/>
            <a:ext cx="9072880" cy="4351439"/>
          </a:xfrm>
          <a:prstGeom prst="rect">
            <a:avLst/>
          </a:prstGeom>
        </p:spPr>
      </p:pic>
    </p:spTree>
    <p:extLst>
      <p:ext uri="{BB962C8B-B14F-4D97-AF65-F5344CB8AC3E}">
        <p14:creationId xmlns:p14="http://schemas.microsoft.com/office/powerpoint/2010/main" val="2374412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BC227-ABB6-59E3-5AA4-1DEAFED1492B}"/>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13DFE4B-AD14-56AC-E02A-26EB228F75E3}"/>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29F02221-BE93-8C35-157B-C17D232A07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546EFA2-4530-E9DE-4DBB-6BA97A8BEE0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30A9D795-00A5-C5AD-6764-F4DDA0703B21}"/>
              </a:ext>
            </a:extLst>
          </p:cNvPr>
          <p:cNvSpPr>
            <a:spLocks noGrp="1"/>
          </p:cNvSpPr>
          <p:nvPr>
            <p:ph type="sldNum" sz="quarter" idx="12"/>
          </p:nvPr>
        </p:nvSpPr>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4" name="TextBox 3">
            <a:extLst>
              <a:ext uri="{FF2B5EF4-FFF2-40B4-BE49-F238E27FC236}">
                <a16:creationId xmlns:a16="http://schemas.microsoft.com/office/drawing/2014/main" id="{640BB423-36C1-2383-EA91-0C381291C490}"/>
              </a:ext>
            </a:extLst>
          </p:cNvPr>
          <p:cNvSpPr txBox="1"/>
          <p:nvPr/>
        </p:nvSpPr>
        <p:spPr>
          <a:xfrm>
            <a:off x="1018497" y="1070094"/>
            <a:ext cx="420267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POST /</a:t>
            </a:r>
            <a:r>
              <a:rPr lang="en-IN" b="1" dirty="0" err="1">
                <a:latin typeface="HK Grotesk Bold"/>
              </a:rPr>
              <a:t>api</a:t>
            </a:r>
            <a:r>
              <a:rPr lang="en-IN" b="1" dirty="0">
                <a:latin typeface="HK Grotesk Bold"/>
              </a:rPr>
              <a:t>/auth/login – User login</a:t>
            </a:r>
          </a:p>
        </p:txBody>
      </p:sp>
      <p:pic>
        <p:nvPicPr>
          <p:cNvPr id="10" name="Picture 9">
            <a:extLst>
              <a:ext uri="{FF2B5EF4-FFF2-40B4-BE49-F238E27FC236}">
                <a16:creationId xmlns:a16="http://schemas.microsoft.com/office/drawing/2014/main" id="{71F2C83D-BCC3-46C7-253A-6BEE9F09CA8E}"/>
              </a:ext>
            </a:extLst>
          </p:cNvPr>
          <p:cNvPicPr>
            <a:picLocks noChangeAspect="1"/>
          </p:cNvPicPr>
          <p:nvPr/>
        </p:nvPicPr>
        <p:blipFill>
          <a:blip r:embed="rId3">
            <a:extLst>
              <a:ext uri="{28A0092B-C50C-407E-A947-70E740481C1C}">
                <a14:useLocalDpi xmlns:a14="http://schemas.microsoft.com/office/drawing/2010/main" val="0"/>
              </a:ext>
            </a:extLst>
          </a:blip>
          <a:srcRect b="15583"/>
          <a:stretch>
            <a:fillRect/>
          </a:stretch>
        </p:blipFill>
        <p:spPr>
          <a:xfrm>
            <a:off x="1645920" y="1615440"/>
            <a:ext cx="9083040" cy="4313051"/>
          </a:xfrm>
          <a:prstGeom prst="rect">
            <a:avLst/>
          </a:prstGeom>
        </p:spPr>
      </p:pic>
    </p:spTree>
    <p:extLst>
      <p:ext uri="{BB962C8B-B14F-4D97-AF65-F5344CB8AC3E}">
        <p14:creationId xmlns:p14="http://schemas.microsoft.com/office/powerpoint/2010/main" val="17273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ED74D-AA3D-23CA-C0A3-2BA0EBD6FCF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FB45586-2CD9-5D0A-5109-E98C3E100F51}"/>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A06D1B27-0E2E-7775-B577-2942A09E2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885EE39-F1B1-5D9E-7695-F54C316572C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3A47B55-6094-3C51-CFBC-D3370E790002}"/>
              </a:ext>
            </a:extLst>
          </p:cNvPr>
          <p:cNvSpPr>
            <a:spLocks noGrp="1"/>
          </p:cNvSpPr>
          <p:nvPr>
            <p:ph type="sldNum" sz="quarter" idx="12"/>
          </p:nvPr>
        </p:nvSpPr>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4" name="TextBox 3">
            <a:extLst>
              <a:ext uri="{FF2B5EF4-FFF2-40B4-BE49-F238E27FC236}">
                <a16:creationId xmlns:a16="http://schemas.microsoft.com/office/drawing/2014/main" id="{6CAAAD02-A41B-06C4-B2C3-DC4B6010172E}"/>
              </a:ext>
            </a:extLst>
          </p:cNvPr>
          <p:cNvSpPr txBox="1"/>
          <p:nvPr/>
        </p:nvSpPr>
        <p:spPr>
          <a:xfrm>
            <a:off x="784817" y="1131054"/>
            <a:ext cx="60796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POST  /</a:t>
            </a:r>
            <a:r>
              <a:rPr lang="en-IN" b="1" dirty="0" err="1">
                <a:latin typeface="HK Grotesk Bold"/>
              </a:rPr>
              <a:t>api</a:t>
            </a:r>
            <a:r>
              <a:rPr lang="en-IN" b="1" dirty="0">
                <a:latin typeface="HK Grotesk Bold"/>
              </a:rPr>
              <a:t>/task/user/{</a:t>
            </a:r>
            <a:r>
              <a:rPr lang="en-IN" b="1" dirty="0" err="1">
                <a:latin typeface="HK Grotesk Bold"/>
              </a:rPr>
              <a:t>userId</a:t>
            </a:r>
            <a:r>
              <a:rPr lang="en-IN" b="1" dirty="0">
                <a:latin typeface="HK Grotesk Bold"/>
              </a:rPr>
              <a:t>} – Add task</a:t>
            </a:r>
          </a:p>
        </p:txBody>
      </p:sp>
      <p:pic>
        <p:nvPicPr>
          <p:cNvPr id="7" name="Picture 6">
            <a:extLst>
              <a:ext uri="{FF2B5EF4-FFF2-40B4-BE49-F238E27FC236}">
                <a16:creationId xmlns:a16="http://schemas.microsoft.com/office/drawing/2014/main" id="{2232A317-75C3-6580-9C1B-49D2D6AFF278}"/>
              </a:ext>
            </a:extLst>
          </p:cNvPr>
          <p:cNvPicPr>
            <a:picLocks noChangeAspect="1"/>
          </p:cNvPicPr>
          <p:nvPr/>
        </p:nvPicPr>
        <p:blipFill>
          <a:blip r:embed="rId3">
            <a:extLst>
              <a:ext uri="{28A0092B-C50C-407E-A947-70E740481C1C}">
                <a14:useLocalDpi xmlns:a14="http://schemas.microsoft.com/office/drawing/2010/main" val="0"/>
              </a:ext>
            </a:extLst>
          </a:blip>
          <a:srcRect b="8114"/>
          <a:stretch>
            <a:fillRect/>
          </a:stretch>
        </p:blipFill>
        <p:spPr>
          <a:xfrm>
            <a:off x="1649306" y="1605280"/>
            <a:ext cx="8785014" cy="4540610"/>
          </a:xfrm>
          <a:prstGeom prst="rect">
            <a:avLst/>
          </a:prstGeom>
        </p:spPr>
      </p:pic>
    </p:spTree>
    <p:extLst>
      <p:ext uri="{BB962C8B-B14F-4D97-AF65-F5344CB8AC3E}">
        <p14:creationId xmlns:p14="http://schemas.microsoft.com/office/powerpoint/2010/main" val="598082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3B4C4-F1C2-8811-2433-5ACA4D97A7E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3248D60-E8FC-D5C6-FF21-776207EC699B}"/>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0D5C645A-D480-DB29-2713-2FCC68046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4CC1436-2117-3B0D-EE5E-E38421859BD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87B58C26-0FC4-607F-BF49-7C3E8A0896C4}"/>
              </a:ext>
            </a:extLst>
          </p:cNvPr>
          <p:cNvSpPr>
            <a:spLocks noGrp="1"/>
          </p:cNvSpPr>
          <p:nvPr>
            <p:ph type="sldNum" sz="quarter" idx="12"/>
          </p:nvPr>
        </p:nvSpPr>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4" name="TextBox 3">
            <a:extLst>
              <a:ext uri="{FF2B5EF4-FFF2-40B4-BE49-F238E27FC236}">
                <a16:creationId xmlns:a16="http://schemas.microsoft.com/office/drawing/2014/main" id="{DBF4BC7B-4F63-66A0-E5CF-4CC3ED7E50B1}"/>
              </a:ext>
            </a:extLst>
          </p:cNvPr>
          <p:cNvSpPr txBox="1"/>
          <p:nvPr/>
        </p:nvSpPr>
        <p:spPr>
          <a:xfrm>
            <a:off x="764497" y="1029454"/>
            <a:ext cx="614376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GET /</a:t>
            </a:r>
            <a:r>
              <a:rPr lang="en-IN" b="1" dirty="0" err="1">
                <a:latin typeface="HK Grotesk Bold"/>
              </a:rPr>
              <a:t>api</a:t>
            </a:r>
            <a:r>
              <a:rPr lang="en-IN" b="1" dirty="0">
                <a:latin typeface="HK Grotesk Bold"/>
              </a:rPr>
              <a:t>/task/user/{</a:t>
            </a:r>
            <a:r>
              <a:rPr lang="en-IN" b="1" dirty="0" err="1">
                <a:latin typeface="HK Grotesk Bold"/>
              </a:rPr>
              <a:t>userId</a:t>
            </a:r>
            <a:r>
              <a:rPr lang="en-IN" b="1" dirty="0">
                <a:latin typeface="HK Grotesk Bold"/>
              </a:rPr>
              <a:t>} – Fetch tasks</a:t>
            </a:r>
          </a:p>
        </p:txBody>
      </p:sp>
      <p:pic>
        <p:nvPicPr>
          <p:cNvPr id="9" name="Picture 8">
            <a:extLst>
              <a:ext uri="{FF2B5EF4-FFF2-40B4-BE49-F238E27FC236}">
                <a16:creationId xmlns:a16="http://schemas.microsoft.com/office/drawing/2014/main" id="{6B8EB5A7-5A2F-6658-0D05-A4EF4B1FF35B}"/>
              </a:ext>
            </a:extLst>
          </p:cNvPr>
          <p:cNvPicPr>
            <a:picLocks noChangeAspect="1"/>
          </p:cNvPicPr>
          <p:nvPr/>
        </p:nvPicPr>
        <p:blipFill>
          <a:blip r:embed="rId3">
            <a:extLst>
              <a:ext uri="{28A0092B-C50C-407E-A947-70E740481C1C}">
                <a14:useLocalDpi xmlns:a14="http://schemas.microsoft.com/office/drawing/2010/main" val="0"/>
              </a:ext>
            </a:extLst>
          </a:blip>
          <a:srcRect l="102" r="1" b="8002"/>
          <a:stretch>
            <a:fillRect/>
          </a:stretch>
        </p:blipFill>
        <p:spPr>
          <a:xfrm>
            <a:off x="1442720" y="1534160"/>
            <a:ext cx="9204960" cy="4768378"/>
          </a:xfrm>
          <a:prstGeom prst="rect">
            <a:avLst/>
          </a:prstGeom>
        </p:spPr>
      </p:pic>
    </p:spTree>
    <p:extLst>
      <p:ext uri="{BB962C8B-B14F-4D97-AF65-F5344CB8AC3E}">
        <p14:creationId xmlns:p14="http://schemas.microsoft.com/office/powerpoint/2010/main" val="283235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0CD0-3E33-E188-2CF6-12A7787BDD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2B29FE6-4E9B-7A92-82A6-53032340800C}"/>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836B5CA8-944E-5451-EF9A-25AF7ED06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646DD67-01AB-7264-1E72-6C99DED88CAA}"/>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A0A49BB-EB85-81D3-9D3C-1CD39D2D6F2B}"/>
              </a:ext>
            </a:extLst>
          </p:cNvPr>
          <p:cNvSpPr>
            <a:spLocks noGrp="1"/>
          </p:cNvSpPr>
          <p:nvPr>
            <p:ph type="sldNum" sz="quarter" idx="12"/>
          </p:nvPr>
        </p:nvSpPr>
        <p:spPr/>
        <p:txBody>
          <a:bodyPr/>
          <a:lstStyle/>
          <a:p>
            <a:fld id="{C8F35010-364B-470B-BB6C-DCBBE63D2E54}" type="slidenum">
              <a:rPr lang="en-US" smtClean="0">
                <a:solidFill>
                  <a:schemeClr val="tx1"/>
                </a:solidFill>
              </a:rPr>
              <a:t>18</a:t>
            </a:fld>
            <a:endParaRPr lang="en-US" dirty="0">
              <a:solidFill>
                <a:schemeClr val="tx1"/>
              </a:solidFill>
            </a:endParaRPr>
          </a:p>
        </p:txBody>
      </p:sp>
      <p:sp>
        <p:nvSpPr>
          <p:cNvPr id="4" name="TextBox 3">
            <a:extLst>
              <a:ext uri="{FF2B5EF4-FFF2-40B4-BE49-F238E27FC236}">
                <a16:creationId xmlns:a16="http://schemas.microsoft.com/office/drawing/2014/main" id="{E1E882C9-CA65-EBEB-DBD9-43DC67A0F428}"/>
              </a:ext>
            </a:extLst>
          </p:cNvPr>
          <p:cNvSpPr txBox="1"/>
          <p:nvPr/>
        </p:nvSpPr>
        <p:spPr>
          <a:xfrm>
            <a:off x="845777" y="1080254"/>
            <a:ext cx="654482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PUT /</a:t>
            </a:r>
            <a:r>
              <a:rPr lang="en-IN" b="1" dirty="0" err="1">
                <a:latin typeface="HK Grotesk Bold"/>
              </a:rPr>
              <a:t>api</a:t>
            </a:r>
            <a:r>
              <a:rPr lang="en-IN" b="1" dirty="0">
                <a:latin typeface="HK Grotesk Bold"/>
              </a:rPr>
              <a:t>/task/user/{</a:t>
            </a:r>
            <a:r>
              <a:rPr lang="en-IN" b="1" dirty="0" err="1">
                <a:latin typeface="HK Grotesk Bold"/>
              </a:rPr>
              <a:t>taskId</a:t>
            </a:r>
            <a:r>
              <a:rPr lang="en-IN" b="1" dirty="0">
                <a:latin typeface="HK Grotesk Bold"/>
              </a:rPr>
              <a:t>} – Update task</a:t>
            </a:r>
          </a:p>
        </p:txBody>
      </p:sp>
      <p:pic>
        <p:nvPicPr>
          <p:cNvPr id="9" name="Picture 8">
            <a:extLst>
              <a:ext uri="{FF2B5EF4-FFF2-40B4-BE49-F238E27FC236}">
                <a16:creationId xmlns:a16="http://schemas.microsoft.com/office/drawing/2014/main" id="{89902D04-8BF7-B382-CF7A-C733BD1B8973}"/>
              </a:ext>
            </a:extLst>
          </p:cNvPr>
          <p:cNvPicPr>
            <a:picLocks noChangeAspect="1"/>
          </p:cNvPicPr>
          <p:nvPr/>
        </p:nvPicPr>
        <p:blipFill>
          <a:blip r:embed="rId3">
            <a:extLst>
              <a:ext uri="{28A0092B-C50C-407E-A947-70E740481C1C}">
                <a14:useLocalDpi xmlns:a14="http://schemas.microsoft.com/office/drawing/2010/main" val="0"/>
              </a:ext>
            </a:extLst>
          </a:blip>
          <a:srcRect t="1" b="8823"/>
          <a:stretch>
            <a:fillRect/>
          </a:stretch>
        </p:blipFill>
        <p:spPr>
          <a:xfrm>
            <a:off x="1808480" y="1574800"/>
            <a:ext cx="8595360" cy="4418278"/>
          </a:xfrm>
          <a:prstGeom prst="rect">
            <a:avLst/>
          </a:prstGeom>
        </p:spPr>
      </p:pic>
    </p:spTree>
    <p:extLst>
      <p:ext uri="{BB962C8B-B14F-4D97-AF65-F5344CB8AC3E}">
        <p14:creationId xmlns:p14="http://schemas.microsoft.com/office/powerpoint/2010/main" val="37314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FD258-2FB3-42A1-A0B2-D80FB556D4C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E18FE46-FADE-E130-8A17-95EC3CA56572}"/>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1CB0BBCF-1930-5192-4F3B-F1DA200DE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138F6AB-9BBD-BD0F-196B-71D0BD7BB5E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D174795-BFFE-EF32-B4E4-72101171D3AA}"/>
              </a:ext>
            </a:extLst>
          </p:cNvPr>
          <p:cNvSpPr>
            <a:spLocks noGrp="1"/>
          </p:cNvSpPr>
          <p:nvPr>
            <p:ph type="sldNum" sz="quarter" idx="12"/>
          </p:nvPr>
        </p:nvSpPr>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4" name="TextBox 3">
            <a:extLst>
              <a:ext uri="{FF2B5EF4-FFF2-40B4-BE49-F238E27FC236}">
                <a16:creationId xmlns:a16="http://schemas.microsoft.com/office/drawing/2014/main" id="{F456115A-735F-1D6E-4E26-D9C4130A4E63}"/>
              </a:ext>
            </a:extLst>
          </p:cNvPr>
          <p:cNvSpPr txBox="1"/>
          <p:nvPr/>
        </p:nvSpPr>
        <p:spPr>
          <a:xfrm>
            <a:off x="774657" y="1181854"/>
            <a:ext cx="601543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DELETE /</a:t>
            </a:r>
            <a:r>
              <a:rPr lang="en-IN" b="1" dirty="0" err="1">
                <a:latin typeface="HK Grotesk Bold"/>
              </a:rPr>
              <a:t>api</a:t>
            </a:r>
            <a:r>
              <a:rPr lang="en-IN" b="1" dirty="0">
                <a:latin typeface="HK Grotesk Bold"/>
              </a:rPr>
              <a:t>/tasks/{</a:t>
            </a:r>
            <a:r>
              <a:rPr lang="en-IN" b="1" dirty="0" err="1">
                <a:latin typeface="HK Grotesk Bold"/>
              </a:rPr>
              <a:t>taskId</a:t>
            </a:r>
            <a:r>
              <a:rPr lang="en-IN" b="1" dirty="0">
                <a:latin typeface="HK Grotesk Bold"/>
              </a:rPr>
              <a:t>}– Delete task</a:t>
            </a:r>
          </a:p>
        </p:txBody>
      </p:sp>
      <p:pic>
        <p:nvPicPr>
          <p:cNvPr id="9" name="Picture 8">
            <a:extLst>
              <a:ext uri="{FF2B5EF4-FFF2-40B4-BE49-F238E27FC236}">
                <a16:creationId xmlns:a16="http://schemas.microsoft.com/office/drawing/2014/main" id="{BDC81DBC-C38E-1322-C31F-EB097015B0D6}"/>
              </a:ext>
            </a:extLst>
          </p:cNvPr>
          <p:cNvPicPr>
            <a:picLocks noChangeAspect="1"/>
          </p:cNvPicPr>
          <p:nvPr/>
        </p:nvPicPr>
        <p:blipFill>
          <a:blip r:embed="rId3">
            <a:extLst>
              <a:ext uri="{28A0092B-C50C-407E-A947-70E740481C1C}">
                <a14:useLocalDpi xmlns:a14="http://schemas.microsoft.com/office/drawing/2010/main" val="0"/>
              </a:ext>
            </a:extLst>
          </a:blip>
          <a:srcRect r="-658" b="20966"/>
          <a:stretch>
            <a:fillRect/>
          </a:stretch>
        </p:blipFill>
        <p:spPr>
          <a:xfrm>
            <a:off x="1473200" y="1747521"/>
            <a:ext cx="9316720" cy="4114800"/>
          </a:xfrm>
          <a:prstGeom prst="rect">
            <a:avLst/>
          </a:prstGeom>
        </p:spPr>
      </p:pic>
    </p:spTree>
    <p:extLst>
      <p:ext uri="{BB962C8B-B14F-4D97-AF65-F5344CB8AC3E}">
        <p14:creationId xmlns:p14="http://schemas.microsoft.com/office/powerpoint/2010/main" val="2809923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274EA-ACFB-5388-3D1D-1181EB23BCD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0A154E0-0E68-1CB4-72D3-410E379B7C17}"/>
              </a:ext>
            </a:extLst>
          </p:cNvPr>
          <p:cNvSpPr/>
          <p:nvPr/>
        </p:nvSpPr>
        <p:spPr>
          <a:xfrm>
            <a:off x="834549" y="516275"/>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Global Exception </a:t>
            </a:r>
          </a:p>
        </p:txBody>
      </p:sp>
      <p:pic>
        <p:nvPicPr>
          <p:cNvPr id="2" name="Picture 1" descr="Logo&#10;&#10;Description automatically generated">
            <a:extLst>
              <a:ext uri="{FF2B5EF4-FFF2-40B4-BE49-F238E27FC236}">
                <a16:creationId xmlns:a16="http://schemas.microsoft.com/office/drawing/2014/main" id="{F622AFED-BECD-1ECE-8E43-5C286E8E0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CA28780-8288-B4F3-4D4D-330CD9ACC04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B72A8EA-B1A6-E89C-D720-FCB1EEAD6522}"/>
              </a:ext>
            </a:extLst>
          </p:cNvPr>
          <p:cNvSpPr>
            <a:spLocks noGrp="1"/>
          </p:cNvSpPr>
          <p:nvPr>
            <p:ph type="sldNum" sz="quarter" idx="12"/>
          </p:nvPr>
        </p:nvSpPr>
        <p:spPr/>
        <p:txBody>
          <a:bodyPr/>
          <a:lstStyle/>
          <a:p>
            <a:fld id="{C8F35010-364B-470B-BB6C-DCBBE63D2E54}" type="slidenum">
              <a:rPr lang="en-US" smtClean="0">
                <a:solidFill>
                  <a:schemeClr val="tx1"/>
                </a:solidFill>
              </a:rPr>
              <a:t>20</a:t>
            </a:fld>
            <a:endParaRPr lang="en-US" dirty="0">
              <a:solidFill>
                <a:schemeClr val="tx1"/>
              </a:solidFill>
            </a:endParaRPr>
          </a:p>
        </p:txBody>
      </p:sp>
      <p:sp>
        <p:nvSpPr>
          <p:cNvPr id="4" name="TextBox 3">
            <a:extLst>
              <a:ext uri="{FF2B5EF4-FFF2-40B4-BE49-F238E27FC236}">
                <a16:creationId xmlns:a16="http://schemas.microsoft.com/office/drawing/2014/main" id="{ADC2F2FE-E86D-3EB9-82CA-E75D2A3BC1F9}"/>
              </a:ext>
            </a:extLst>
          </p:cNvPr>
          <p:cNvSpPr txBox="1"/>
          <p:nvPr/>
        </p:nvSpPr>
        <p:spPr>
          <a:xfrm>
            <a:off x="994969" y="1370617"/>
            <a:ext cx="5019751" cy="35394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IN" sz="2800" dirty="0"/>
              <a:t>Implemented using @ControllerAdvice</a:t>
            </a:r>
          </a:p>
          <a:p>
            <a:pPr marL="457200" lvl="0" indent="-457200">
              <a:buFont typeface="Arial" panose="020B0604020202020204" pitchFamily="34" charset="0"/>
              <a:buChar char="•"/>
            </a:pPr>
            <a:r>
              <a:rPr lang="en-IN" sz="2800" dirty="0"/>
              <a:t>Handles exceptions globally</a:t>
            </a:r>
          </a:p>
          <a:p>
            <a:pPr marL="457200" lvl="0" indent="-457200">
              <a:buFont typeface="Arial" panose="020B0604020202020204" pitchFamily="34" charset="0"/>
              <a:buChar char="•"/>
            </a:pPr>
            <a:r>
              <a:rPr lang="en-IN" sz="2800" dirty="0"/>
              <a:t>Provides meaningful error messages</a:t>
            </a:r>
          </a:p>
          <a:p>
            <a:pPr marL="457200" lvl="0" indent="-457200">
              <a:buFont typeface="Arial" panose="020B0604020202020204" pitchFamily="34" charset="0"/>
              <a:buChar char="•"/>
            </a:pPr>
            <a:r>
              <a:rPr lang="en-IN" sz="2800" dirty="0"/>
              <a:t>Prevents application crash</a:t>
            </a:r>
          </a:p>
          <a:p>
            <a:pPr marL="457200" lvl="0" indent="-457200">
              <a:buFont typeface="Arial" panose="020B0604020202020204" pitchFamily="34" charset="0"/>
              <a:buChar char="•"/>
            </a:pPr>
            <a:r>
              <a:rPr lang="en-IN" sz="2800" dirty="0"/>
              <a:t>Improves backend reliability and maintainability</a:t>
            </a:r>
          </a:p>
        </p:txBody>
      </p:sp>
      <p:pic>
        <p:nvPicPr>
          <p:cNvPr id="7" name="Picture 6">
            <a:extLst>
              <a:ext uri="{FF2B5EF4-FFF2-40B4-BE49-F238E27FC236}">
                <a16:creationId xmlns:a16="http://schemas.microsoft.com/office/drawing/2014/main" id="{5978B520-4048-8B25-3845-761D21FD3E72}"/>
              </a:ext>
            </a:extLst>
          </p:cNvPr>
          <p:cNvPicPr>
            <a:picLocks noChangeAspect="1"/>
          </p:cNvPicPr>
          <p:nvPr/>
        </p:nvPicPr>
        <p:blipFill>
          <a:blip r:embed="rId3">
            <a:extLst>
              <a:ext uri="{28A0092B-C50C-407E-A947-70E740481C1C}">
                <a14:useLocalDpi xmlns:a14="http://schemas.microsoft.com/office/drawing/2010/main" val="0"/>
              </a:ext>
            </a:extLst>
          </a:blip>
          <a:srcRect l="4088" t="3460" r="4795" b="5975"/>
          <a:stretch>
            <a:fillRect/>
          </a:stretch>
        </p:blipFill>
        <p:spPr>
          <a:xfrm>
            <a:off x="6461760" y="1503680"/>
            <a:ext cx="4826000" cy="2926080"/>
          </a:xfrm>
          <a:prstGeom prst="rect">
            <a:avLst/>
          </a:prstGeom>
        </p:spPr>
      </p:pic>
    </p:spTree>
    <p:extLst>
      <p:ext uri="{BB962C8B-B14F-4D97-AF65-F5344CB8AC3E}">
        <p14:creationId xmlns:p14="http://schemas.microsoft.com/office/powerpoint/2010/main" val="753188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C36D-30D0-3664-D888-4B0789750D19}"/>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FBCDB67-86B2-6BBD-874B-796035284A02}"/>
              </a:ext>
            </a:extLst>
          </p:cNvPr>
          <p:cNvSpPr/>
          <p:nvPr/>
        </p:nvSpPr>
        <p:spPr>
          <a:xfrm>
            <a:off x="609959" y="420022"/>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Database Design</a:t>
            </a:r>
          </a:p>
        </p:txBody>
      </p:sp>
      <p:pic>
        <p:nvPicPr>
          <p:cNvPr id="2" name="Picture 1" descr="Logo&#10;&#10;Description automatically generated">
            <a:extLst>
              <a:ext uri="{FF2B5EF4-FFF2-40B4-BE49-F238E27FC236}">
                <a16:creationId xmlns:a16="http://schemas.microsoft.com/office/drawing/2014/main" id="{9A5122B7-C558-CFE2-3991-AE8FDD0C7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A1DF8F9-1168-5CDA-5EF8-0B4D3FE1D47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339C9ACC-4CF1-25A8-DEBA-70002C7D9237}"/>
              </a:ext>
            </a:extLst>
          </p:cNvPr>
          <p:cNvSpPr>
            <a:spLocks noGrp="1"/>
          </p:cNvSpPr>
          <p:nvPr>
            <p:ph type="sldNum" sz="quarter" idx="12"/>
          </p:nvPr>
        </p:nvSpPr>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4" name="TextBox 3">
            <a:extLst>
              <a:ext uri="{FF2B5EF4-FFF2-40B4-BE49-F238E27FC236}">
                <a16:creationId xmlns:a16="http://schemas.microsoft.com/office/drawing/2014/main" id="{030F0219-DB56-32DF-7F6A-36EEE8728808}"/>
              </a:ext>
            </a:extLst>
          </p:cNvPr>
          <p:cNvSpPr txBox="1"/>
          <p:nvPr/>
        </p:nvSpPr>
        <p:spPr>
          <a:xfrm>
            <a:off x="674127" y="1178111"/>
            <a:ext cx="5396735" cy="34163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400" b="1" dirty="0"/>
              <a:t>Tables Used:</a:t>
            </a:r>
            <a:endParaRPr lang="en-IN" sz="2400" dirty="0"/>
          </a:p>
          <a:p>
            <a:pPr marL="342900" lvl="0" indent="-342900">
              <a:buFont typeface="Arial" panose="020B0604020202020204" pitchFamily="34" charset="0"/>
              <a:buChar char="•"/>
            </a:pPr>
            <a:r>
              <a:rPr lang="en-IN" sz="2400" dirty="0"/>
              <a:t>User</a:t>
            </a:r>
          </a:p>
          <a:p>
            <a:pPr marL="285750" lvl="0" indent="-285750">
              <a:buFont typeface="Arial" panose="020B0604020202020204" pitchFamily="34" charset="0"/>
              <a:buChar char="•"/>
            </a:pPr>
            <a:r>
              <a:rPr lang="en-IN" sz="2400" dirty="0"/>
              <a:t>Task</a:t>
            </a:r>
          </a:p>
          <a:p>
            <a:r>
              <a:rPr lang="en-IN" sz="2400" b="1" dirty="0"/>
              <a:t>Features:</a:t>
            </a:r>
            <a:endParaRPr lang="en-IN" sz="2400" dirty="0"/>
          </a:p>
          <a:p>
            <a:pPr marL="285750" lvl="0" indent="-285750">
              <a:buFont typeface="Arial" panose="020B0604020202020204" pitchFamily="34" charset="0"/>
              <a:buChar char="•"/>
            </a:pPr>
            <a:r>
              <a:rPr lang="en-IN" sz="2400" dirty="0"/>
              <a:t>One-to-many relationship (User → Tasks)</a:t>
            </a:r>
          </a:p>
          <a:p>
            <a:pPr marL="285750" lvl="0" indent="-285750">
              <a:buFont typeface="Arial" panose="020B0604020202020204" pitchFamily="34" charset="0"/>
              <a:buChar char="•"/>
            </a:pPr>
            <a:r>
              <a:rPr lang="en-IN" sz="2400" dirty="0"/>
              <a:t>Stores task title, description, due date, and status</a:t>
            </a:r>
          </a:p>
          <a:p>
            <a:pPr marL="285750" indent="-285750">
              <a:buFont typeface="Arial" panose="020B0604020202020204" pitchFamily="34" charset="0"/>
              <a:buChar char="•"/>
            </a:pPr>
            <a:r>
              <a:rPr lang="en-IN" sz="2400" dirty="0"/>
              <a:t>Uses MySQL for persistent storage</a:t>
            </a:r>
            <a:endParaRPr lang="en-US" sz="2400" dirty="0">
              <a:solidFill>
                <a:srgbClr val="0187CC"/>
              </a:solidFill>
              <a:latin typeface="HK Grotesk"/>
            </a:endParaRPr>
          </a:p>
        </p:txBody>
      </p:sp>
      <p:pic>
        <p:nvPicPr>
          <p:cNvPr id="5" name="Picture 4">
            <a:extLst>
              <a:ext uri="{FF2B5EF4-FFF2-40B4-BE49-F238E27FC236}">
                <a16:creationId xmlns:a16="http://schemas.microsoft.com/office/drawing/2014/main" id="{C4DBD0D8-E3C2-7CFC-12FF-4E3A70680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3254" y="1133947"/>
            <a:ext cx="5218020" cy="4239332"/>
          </a:xfrm>
          <a:prstGeom prst="rect">
            <a:avLst/>
          </a:prstGeom>
        </p:spPr>
      </p:pic>
    </p:spTree>
    <p:extLst>
      <p:ext uri="{BB962C8B-B14F-4D97-AF65-F5344CB8AC3E}">
        <p14:creationId xmlns:p14="http://schemas.microsoft.com/office/powerpoint/2010/main" val="2140634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9F432-C30E-931E-E26E-FC912D43ED2E}"/>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8EA858CA-18D6-FC5D-884F-664B282807DC}"/>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C2A789A9-3C4D-06BD-74CE-E4F7D4B9D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D9EC97B-ADCE-D645-2D39-9AE53993060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E2C6AD3-BAD6-6C1C-6C07-90BD751A9A92}"/>
              </a:ext>
            </a:extLst>
          </p:cNvPr>
          <p:cNvSpPr>
            <a:spLocks noGrp="1"/>
          </p:cNvSpPr>
          <p:nvPr>
            <p:ph type="sldNum" sz="quarter" idx="12"/>
          </p:nvPr>
        </p:nvSpPr>
        <p:spPr/>
        <p:txBody>
          <a:bodyPr/>
          <a:lstStyle/>
          <a:p>
            <a:fld id="{C8F35010-364B-470B-BB6C-DCBBE63D2E54}" type="slidenum">
              <a:rPr lang="en-US" smtClean="0">
                <a:solidFill>
                  <a:schemeClr val="tx1"/>
                </a:solidFill>
              </a:rPr>
              <a:t>22</a:t>
            </a:fld>
            <a:endParaRPr lang="en-US" dirty="0">
              <a:solidFill>
                <a:schemeClr val="tx1"/>
              </a:solidFill>
            </a:endParaRPr>
          </a:p>
        </p:txBody>
      </p:sp>
      <p:sp>
        <p:nvSpPr>
          <p:cNvPr id="4" name="TextBox 3">
            <a:extLst>
              <a:ext uri="{FF2B5EF4-FFF2-40B4-BE49-F238E27FC236}">
                <a16:creationId xmlns:a16="http://schemas.microsoft.com/office/drawing/2014/main" id="{7831A12F-1ED4-4A86-BEF2-69ED71576E0A}"/>
              </a:ext>
            </a:extLst>
          </p:cNvPr>
          <p:cNvSpPr txBox="1"/>
          <p:nvPr/>
        </p:nvSpPr>
        <p:spPr>
          <a:xfrm>
            <a:off x="722254" y="1338532"/>
            <a:ext cx="7266714"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sz="2800" dirty="0"/>
              <a:t>Created </a:t>
            </a:r>
            <a:r>
              <a:rPr lang="en-IN" sz="2800" dirty="0" err="1"/>
              <a:t>Dockerfile</a:t>
            </a:r>
            <a:r>
              <a:rPr lang="en-IN" sz="2800" dirty="0"/>
              <a:t> for backend</a:t>
            </a:r>
          </a:p>
          <a:p>
            <a:pPr marL="285750" lvl="0" indent="-285750">
              <a:buFont typeface="Arial" panose="020B0604020202020204" pitchFamily="34" charset="0"/>
              <a:buChar char="•"/>
            </a:pPr>
            <a:r>
              <a:rPr lang="en-IN" sz="2800" dirty="0"/>
              <a:t>Docker image built successfully</a:t>
            </a:r>
          </a:p>
          <a:p>
            <a:pPr marL="285750" lvl="0" indent="-285750">
              <a:buFont typeface="Arial" panose="020B0604020202020204" pitchFamily="34" charset="0"/>
              <a:buChar char="•"/>
            </a:pPr>
            <a:r>
              <a:rPr lang="en-IN" sz="2800" dirty="0"/>
              <a:t>Backend application packaged as JAR</a:t>
            </a:r>
          </a:p>
          <a:p>
            <a:pPr marL="285750" lvl="0" indent="-285750">
              <a:buFont typeface="Arial" panose="020B0604020202020204" pitchFamily="34" charset="0"/>
              <a:buChar char="•"/>
            </a:pPr>
            <a:r>
              <a:rPr lang="en-IN" sz="2800" dirty="0"/>
              <a:t>Docker container created from image</a:t>
            </a:r>
          </a:p>
          <a:p>
            <a:pPr marL="285750" lvl="0" indent="-285750">
              <a:buFont typeface="Arial" panose="020B0604020202020204" pitchFamily="34" charset="0"/>
              <a:buChar char="•"/>
            </a:pPr>
            <a:r>
              <a:rPr lang="en-IN" sz="2800" dirty="0"/>
              <a:t>Enables portability and consistency</a:t>
            </a:r>
          </a:p>
        </p:txBody>
      </p:sp>
    </p:spTree>
    <p:extLst>
      <p:ext uri="{BB962C8B-B14F-4D97-AF65-F5344CB8AC3E}">
        <p14:creationId xmlns:p14="http://schemas.microsoft.com/office/powerpoint/2010/main" val="405072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64AE-6D07-F356-2A2B-D33BD29B037D}"/>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314977C-216F-DC82-2709-F8E190DEFC43}"/>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AFCA1D36-5ADD-2264-D478-1F3DE359E5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49AE508-3A8B-1719-06CE-B1B1ED7DA5F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30F0AF1-6B01-C004-3696-A39EC6437CDA}"/>
              </a:ext>
            </a:extLst>
          </p:cNvPr>
          <p:cNvSpPr>
            <a:spLocks noGrp="1"/>
          </p:cNvSpPr>
          <p:nvPr>
            <p:ph type="sldNum" sz="quarter" idx="12"/>
          </p:nvPr>
        </p:nvSpPr>
        <p:spPr/>
        <p:txBody>
          <a:bodyPr/>
          <a:lstStyle/>
          <a:p>
            <a:fld id="{C8F35010-364B-470B-BB6C-DCBBE63D2E54}" type="slidenum">
              <a:rPr lang="en-US" smtClean="0">
                <a:solidFill>
                  <a:schemeClr val="tx1"/>
                </a:solidFill>
              </a:rPr>
              <a:t>23</a:t>
            </a:fld>
            <a:endParaRPr lang="en-US" dirty="0">
              <a:solidFill>
                <a:schemeClr val="tx1"/>
              </a:solidFill>
            </a:endParaRPr>
          </a:p>
        </p:txBody>
      </p:sp>
      <p:pic>
        <p:nvPicPr>
          <p:cNvPr id="7" name="Picture 6">
            <a:extLst>
              <a:ext uri="{FF2B5EF4-FFF2-40B4-BE49-F238E27FC236}">
                <a16:creationId xmlns:a16="http://schemas.microsoft.com/office/drawing/2014/main" id="{5E05A91A-4D11-5317-CF1E-AC12D00CC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7040" y="1239520"/>
            <a:ext cx="8321040" cy="4419600"/>
          </a:xfrm>
          <a:prstGeom prst="rect">
            <a:avLst/>
          </a:prstGeom>
        </p:spPr>
      </p:pic>
    </p:spTree>
    <p:extLst>
      <p:ext uri="{BB962C8B-B14F-4D97-AF65-F5344CB8AC3E}">
        <p14:creationId xmlns:p14="http://schemas.microsoft.com/office/powerpoint/2010/main" val="1569310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4A8D4-A8A9-CFD5-228F-9B9D2091228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C0FBBD94-343B-69FE-78F0-3F17E9A22B8B}"/>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FD34A5DB-2105-2080-7CE3-E0292FA73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6132572-F76F-BF40-0100-8594C30051B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26C6F8AA-FD82-ECD8-48F6-19BA0E618E8B}"/>
              </a:ext>
            </a:extLst>
          </p:cNvPr>
          <p:cNvSpPr>
            <a:spLocks noGrp="1"/>
          </p:cNvSpPr>
          <p:nvPr>
            <p:ph type="sldNum" sz="quarter" idx="12"/>
          </p:nvPr>
        </p:nvSpPr>
        <p:spPr/>
        <p:txBody>
          <a:bodyPr/>
          <a:lstStyle/>
          <a:p>
            <a:fld id="{C8F35010-364B-470B-BB6C-DCBBE63D2E54}" type="slidenum">
              <a:rPr lang="en-US" smtClean="0">
                <a:solidFill>
                  <a:schemeClr val="tx1"/>
                </a:solidFill>
              </a:rPr>
              <a:t>24</a:t>
            </a:fld>
            <a:endParaRPr lang="en-US" dirty="0">
              <a:solidFill>
                <a:schemeClr val="tx1"/>
              </a:solidFill>
            </a:endParaRPr>
          </a:p>
        </p:txBody>
      </p:sp>
      <p:pic>
        <p:nvPicPr>
          <p:cNvPr id="7" name="Picture 6">
            <a:extLst>
              <a:ext uri="{FF2B5EF4-FFF2-40B4-BE49-F238E27FC236}">
                <a16:creationId xmlns:a16="http://schemas.microsoft.com/office/drawing/2014/main" id="{85834DE5-BE84-9BC3-B83F-0F782C683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0" y="1280160"/>
            <a:ext cx="9875520" cy="4827270"/>
          </a:xfrm>
          <a:prstGeom prst="rect">
            <a:avLst/>
          </a:prstGeom>
        </p:spPr>
      </p:pic>
    </p:spTree>
    <p:extLst>
      <p:ext uri="{BB962C8B-B14F-4D97-AF65-F5344CB8AC3E}">
        <p14:creationId xmlns:p14="http://schemas.microsoft.com/office/powerpoint/2010/main" val="4159182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FDD0C-1914-5AEC-ECC9-89901772333B}"/>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EF72A342-04B5-DD8B-0560-64FFAE229DFE}"/>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F827FCC1-719A-8F5C-F19E-C57B0642B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CFEFAD2-7BDB-9A15-E03E-70265325738F}"/>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E343F16-FB1B-60DB-1E3F-17D67B0C04AD}"/>
              </a:ext>
            </a:extLst>
          </p:cNvPr>
          <p:cNvSpPr>
            <a:spLocks noGrp="1"/>
          </p:cNvSpPr>
          <p:nvPr>
            <p:ph type="sldNum" sz="quarter" idx="12"/>
          </p:nvPr>
        </p:nvSpPr>
        <p:spPr/>
        <p:txBody>
          <a:bodyPr/>
          <a:lstStyle/>
          <a:p>
            <a:fld id="{C8F35010-364B-470B-BB6C-DCBBE63D2E54}" type="slidenum">
              <a:rPr lang="en-US" smtClean="0">
                <a:solidFill>
                  <a:schemeClr val="tx1"/>
                </a:solidFill>
              </a:rPr>
              <a:t>25</a:t>
            </a:fld>
            <a:endParaRPr lang="en-US" dirty="0">
              <a:solidFill>
                <a:schemeClr val="tx1"/>
              </a:solidFill>
            </a:endParaRPr>
          </a:p>
        </p:txBody>
      </p:sp>
      <p:pic>
        <p:nvPicPr>
          <p:cNvPr id="7" name="Picture 6">
            <a:extLst>
              <a:ext uri="{FF2B5EF4-FFF2-40B4-BE49-F238E27FC236}">
                <a16:creationId xmlns:a16="http://schemas.microsoft.com/office/drawing/2014/main" id="{AFACDC15-8116-E211-CEA4-DAE214F114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800" y="1168400"/>
            <a:ext cx="10383520" cy="5091430"/>
          </a:xfrm>
          <a:prstGeom prst="rect">
            <a:avLst/>
          </a:prstGeom>
        </p:spPr>
      </p:pic>
    </p:spTree>
    <p:extLst>
      <p:ext uri="{BB962C8B-B14F-4D97-AF65-F5344CB8AC3E}">
        <p14:creationId xmlns:p14="http://schemas.microsoft.com/office/powerpoint/2010/main" val="553469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B965F-71A2-8E42-893D-CD3F0208EB8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B8B84C1-F411-8262-B5E0-92F6D21A0DCE}"/>
              </a:ext>
            </a:extLst>
          </p:cNvPr>
          <p:cNvSpPr/>
          <p:nvPr/>
        </p:nvSpPr>
        <p:spPr>
          <a:xfrm>
            <a:off x="674128" y="532317"/>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Azure </a:t>
            </a:r>
            <a:r>
              <a:rPr lang="en-US" sz="3200" b="1" dirty="0" err="1">
                <a:solidFill>
                  <a:srgbClr val="0187CC"/>
                </a:solidFill>
                <a:latin typeface="HK Grotesk Bold"/>
              </a:rPr>
              <a:t>Deployement</a:t>
            </a:r>
            <a:endParaRPr lang="en-US" sz="32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82D95B27-50A2-64BE-6E4A-5AEA9BD15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66A5C1B-1952-CAB9-56C4-C25B64EBC20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A7492B-6AB1-0F72-4A3D-4E72CBAC4A65}"/>
              </a:ext>
            </a:extLst>
          </p:cNvPr>
          <p:cNvSpPr>
            <a:spLocks noGrp="1"/>
          </p:cNvSpPr>
          <p:nvPr>
            <p:ph type="sldNum" sz="quarter" idx="12"/>
          </p:nvPr>
        </p:nvSpPr>
        <p:spPr/>
        <p:txBody>
          <a:bodyPr/>
          <a:lstStyle/>
          <a:p>
            <a:fld id="{C8F35010-364B-470B-BB6C-DCBBE63D2E54}" type="slidenum">
              <a:rPr lang="en-US" smtClean="0">
                <a:solidFill>
                  <a:schemeClr val="tx1"/>
                </a:solidFill>
              </a:rPr>
              <a:t>26</a:t>
            </a:fld>
            <a:endParaRPr lang="en-US" dirty="0">
              <a:solidFill>
                <a:schemeClr val="tx1"/>
              </a:solidFill>
            </a:endParaRPr>
          </a:p>
        </p:txBody>
      </p:sp>
      <p:sp>
        <p:nvSpPr>
          <p:cNvPr id="4" name="TextBox 3">
            <a:extLst>
              <a:ext uri="{FF2B5EF4-FFF2-40B4-BE49-F238E27FC236}">
                <a16:creationId xmlns:a16="http://schemas.microsoft.com/office/drawing/2014/main" id="{C08A777D-4F97-5E92-F73F-EEF311EC974E}"/>
              </a:ext>
            </a:extLst>
          </p:cNvPr>
          <p:cNvSpPr txBox="1"/>
          <p:nvPr/>
        </p:nvSpPr>
        <p:spPr>
          <a:xfrm>
            <a:off x="7874000" y="1489862"/>
            <a:ext cx="3566159" cy="30469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Docker image pushed to Azure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Azure Container Instance created</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Backend deployed on Azure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Application accessible via public endpoint</a:t>
            </a:r>
          </a:p>
        </p:txBody>
      </p:sp>
      <p:pic>
        <p:nvPicPr>
          <p:cNvPr id="7" name="Picture 6">
            <a:extLst>
              <a:ext uri="{FF2B5EF4-FFF2-40B4-BE49-F238E27FC236}">
                <a16:creationId xmlns:a16="http://schemas.microsoft.com/office/drawing/2014/main" id="{EBCE57B1-9B88-BFA7-0676-F2A7EA7C0F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360" y="1412241"/>
            <a:ext cx="7315200" cy="4114800"/>
          </a:xfrm>
          <a:prstGeom prst="rect">
            <a:avLst/>
          </a:prstGeom>
        </p:spPr>
      </p:pic>
    </p:spTree>
    <p:extLst>
      <p:ext uri="{BB962C8B-B14F-4D97-AF65-F5344CB8AC3E}">
        <p14:creationId xmlns:p14="http://schemas.microsoft.com/office/powerpoint/2010/main" val="1226272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742DE-9B2A-9984-42C5-D54432EA4993}"/>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0CD3BFB3-63E0-F31C-3CE4-7511CA057A3C}"/>
              </a:ext>
            </a:extLst>
          </p:cNvPr>
          <p:cNvSpPr/>
          <p:nvPr/>
        </p:nvSpPr>
        <p:spPr>
          <a:xfrm>
            <a:off x="674128" y="532317"/>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Azure </a:t>
            </a:r>
            <a:r>
              <a:rPr lang="en-US" sz="3200" b="1" dirty="0" err="1">
                <a:solidFill>
                  <a:srgbClr val="0187CC"/>
                </a:solidFill>
                <a:latin typeface="HK Grotesk Bold"/>
              </a:rPr>
              <a:t>Deployement</a:t>
            </a:r>
            <a:endParaRPr lang="en-US" sz="32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3CA5459F-7764-83CC-B05D-ED96B1A55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BAAC929-65CE-36AD-584D-E25F796531E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5E7F977-FA2B-5383-7BBF-D9CDD74F82A4}"/>
              </a:ext>
            </a:extLst>
          </p:cNvPr>
          <p:cNvSpPr>
            <a:spLocks noGrp="1"/>
          </p:cNvSpPr>
          <p:nvPr>
            <p:ph type="sldNum" sz="quarter" idx="12"/>
          </p:nvPr>
        </p:nvSpPr>
        <p:spPr/>
        <p:txBody>
          <a:bodyPr/>
          <a:lstStyle/>
          <a:p>
            <a:fld id="{C8F35010-364B-470B-BB6C-DCBBE63D2E54}" type="slidenum">
              <a:rPr lang="en-US" smtClean="0">
                <a:solidFill>
                  <a:schemeClr val="tx1"/>
                </a:solidFill>
              </a:rPr>
              <a:t>27</a:t>
            </a:fld>
            <a:endParaRPr lang="en-US" dirty="0">
              <a:solidFill>
                <a:schemeClr val="tx1"/>
              </a:solidFill>
            </a:endParaRPr>
          </a:p>
        </p:txBody>
      </p:sp>
      <p:pic>
        <p:nvPicPr>
          <p:cNvPr id="8" name="Picture 7">
            <a:extLst>
              <a:ext uri="{FF2B5EF4-FFF2-40B4-BE49-F238E27FC236}">
                <a16:creationId xmlns:a16="http://schemas.microsoft.com/office/drawing/2014/main" id="{6B01D070-3ED6-CE47-FB86-2733B1E438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80" y="1249680"/>
            <a:ext cx="8930640" cy="5023485"/>
          </a:xfrm>
          <a:prstGeom prst="rect">
            <a:avLst/>
          </a:prstGeom>
        </p:spPr>
      </p:pic>
    </p:spTree>
    <p:extLst>
      <p:ext uri="{BB962C8B-B14F-4D97-AF65-F5344CB8AC3E}">
        <p14:creationId xmlns:p14="http://schemas.microsoft.com/office/powerpoint/2010/main" val="3682196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80C90-D14A-1C2A-F08E-3A4D3A8D648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02550FD-5787-91C8-698F-70B3F190B5DE}"/>
              </a:ext>
            </a:extLst>
          </p:cNvPr>
          <p:cNvSpPr/>
          <p:nvPr/>
        </p:nvSpPr>
        <p:spPr>
          <a:xfrm>
            <a:off x="674127" y="436064"/>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Source Code Management</a:t>
            </a:r>
          </a:p>
        </p:txBody>
      </p:sp>
      <p:pic>
        <p:nvPicPr>
          <p:cNvPr id="2" name="Picture 1" descr="Logo&#10;&#10;Description automatically generated">
            <a:extLst>
              <a:ext uri="{FF2B5EF4-FFF2-40B4-BE49-F238E27FC236}">
                <a16:creationId xmlns:a16="http://schemas.microsoft.com/office/drawing/2014/main" id="{C4F8CD9D-6B54-B316-3BB6-8045F3094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009F994-1235-AAE9-1E84-B1C2D8B845D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0D2D255-63BF-0E1F-6DF5-3D96919435CA}"/>
              </a:ext>
            </a:extLst>
          </p:cNvPr>
          <p:cNvSpPr>
            <a:spLocks noGrp="1"/>
          </p:cNvSpPr>
          <p:nvPr>
            <p:ph type="sldNum" sz="quarter" idx="12"/>
          </p:nvPr>
        </p:nvSpPr>
        <p:spPr/>
        <p:txBody>
          <a:bodyPr/>
          <a:lstStyle/>
          <a:p>
            <a:fld id="{C8F35010-364B-470B-BB6C-DCBBE63D2E54}" type="slidenum">
              <a:rPr lang="en-US" smtClean="0">
                <a:solidFill>
                  <a:schemeClr val="tx1"/>
                </a:solidFill>
              </a:rPr>
              <a:t>28</a:t>
            </a:fld>
            <a:endParaRPr lang="en-US" dirty="0">
              <a:solidFill>
                <a:schemeClr val="tx1"/>
              </a:solidFill>
            </a:endParaRPr>
          </a:p>
        </p:txBody>
      </p:sp>
      <p:sp>
        <p:nvSpPr>
          <p:cNvPr id="4" name="TextBox 3">
            <a:extLst>
              <a:ext uri="{FF2B5EF4-FFF2-40B4-BE49-F238E27FC236}">
                <a16:creationId xmlns:a16="http://schemas.microsoft.com/office/drawing/2014/main" id="{48BB70F5-2E24-F95A-F6DF-0950655C9A1A}"/>
              </a:ext>
            </a:extLst>
          </p:cNvPr>
          <p:cNvSpPr txBox="1"/>
          <p:nvPr/>
        </p:nvSpPr>
        <p:spPr>
          <a:xfrm>
            <a:off x="946844" y="1226237"/>
            <a:ext cx="11245156" cy="267765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400" dirty="0"/>
              <a:t>GitHub used for version control</a:t>
            </a:r>
          </a:p>
          <a:p>
            <a:pPr marL="342900" lvl="0" indent="-342900">
              <a:buFont typeface="Arial" panose="020B0604020202020204" pitchFamily="34" charset="0"/>
              <a:buChar char="•"/>
            </a:pPr>
            <a:r>
              <a:rPr lang="en-IN" sz="2400" dirty="0"/>
              <a:t>Proper project structure maintained</a:t>
            </a:r>
          </a:p>
          <a:p>
            <a:pPr marL="342900" lvl="0" indent="-342900">
              <a:buFont typeface="Arial" panose="020B0604020202020204" pitchFamily="34" charset="0"/>
              <a:buChar char="•"/>
            </a:pPr>
            <a:r>
              <a:rPr lang="en-IN" sz="2400" dirty="0"/>
              <a:t>Meaningful commit messages</a:t>
            </a:r>
          </a:p>
          <a:p>
            <a:pPr marL="342900" lvl="0" indent="-342900">
              <a:buFont typeface="Arial" panose="020B0604020202020204" pitchFamily="34" charset="0"/>
              <a:buChar char="•"/>
            </a:pPr>
            <a:r>
              <a:rPr lang="en-IN" sz="2400" dirty="0"/>
              <a:t>README file included with setup instructions</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GitHub Link: </a:t>
            </a:r>
            <a:r>
              <a:rPr lang="en-IN" sz="2400" dirty="0">
                <a:hlinkClick r:id="rId3"/>
              </a:rPr>
              <a:t>https://github.com/varsha21-pr/DoneVia-todo-taskmanager.git</a:t>
            </a:r>
            <a:endParaRPr lang="en-IN" sz="2400" dirty="0"/>
          </a:p>
          <a:p>
            <a:pPr lvl="0"/>
            <a:r>
              <a:rPr lang="en-IN" sz="2400" dirty="0"/>
              <a:t>                            https://github.com/Jayanthvlk/To-do-List-Management-Application.git</a:t>
            </a:r>
          </a:p>
        </p:txBody>
      </p:sp>
    </p:spTree>
    <p:extLst>
      <p:ext uri="{BB962C8B-B14F-4D97-AF65-F5344CB8AC3E}">
        <p14:creationId xmlns:p14="http://schemas.microsoft.com/office/powerpoint/2010/main" val="3572313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6A7D-36CC-4C86-75DF-82CC6B20C09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63FBC1AE-1F72-1CD8-E690-AC58A40F22F3}"/>
              </a:ext>
            </a:extLst>
          </p:cNvPr>
          <p:cNvSpPr/>
          <p:nvPr/>
        </p:nvSpPr>
        <p:spPr>
          <a:xfrm>
            <a:off x="674127" y="436064"/>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Source Code Management</a:t>
            </a:r>
          </a:p>
        </p:txBody>
      </p:sp>
      <p:pic>
        <p:nvPicPr>
          <p:cNvPr id="2" name="Picture 1" descr="Logo&#10;&#10;Description automatically generated">
            <a:extLst>
              <a:ext uri="{FF2B5EF4-FFF2-40B4-BE49-F238E27FC236}">
                <a16:creationId xmlns:a16="http://schemas.microsoft.com/office/drawing/2014/main" id="{9E47CA6D-9A9A-BC99-218F-346867C87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AF0620F-94DE-9320-4BF0-E84969784A8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489BBD4-DC64-8C23-BFE1-D79BDF9BC83A}"/>
              </a:ext>
            </a:extLst>
          </p:cNvPr>
          <p:cNvSpPr>
            <a:spLocks noGrp="1"/>
          </p:cNvSpPr>
          <p:nvPr>
            <p:ph type="sldNum" sz="quarter" idx="12"/>
          </p:nvPr>
        </p:nvSpPr>
        <p:spPr/>
        <p:txBody>
          <a:bodyPr/>
          <a:lstStyle/>
          <a:p>
            <a:fld id="{C8F35010-364B-470B-BB6C-DCBBE63D2E54}" type="slidenum">
              <a:rPr lang="en-US" smtClean="0">
                <a:solidFill>
                  <a:schemeClr val="tx1"/>
                </a:solidFill>
              </a:rPr>
              <a:t>29</a:t>
            </a:fld>
            <a:endParaRPr lang="en-US" dirty="0">
              <a:solidFill>
                <a:schemeClr val="tx1"/>
              </a:solidFill>
            </a:endParaRPr>
          </a:p>
        </p:txBody>
      </p:sp>
      <p:pic>
        <p:nvPicPr>
          <p:cNvPr id="7" name="Picture 6">
            <a:extLst>
              <a:ext uri="{FF2B5EF4-FFF2-40B4-BE49-F238E27FC236}">
                <a16:creationId xmlns:a16="http://schemas.microsoft.com/office/drawing/2014/main" id="{18D28EAE-87DB-B8B5-63FB-7C94DA5C8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004" y="1234759"/>
            <a:ext cx="8572795" cy="4475161"/>
          </a:xfrm>
          <a:prstGeom prst="rect">
            <a:avLst/>
          </a:prstGeom>
        </p:spPr>
      </p:pic>
    </p:spTree>
    <p:extLst>
      <p:ext uri="{BB962C8B-B14F-4D97-AF65-F5344CB8AC3E}">
        <p14:creationId xmlns:p14="http://schemas.microsoft.com/office/powerpoint/2010/main" val="1935452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745E1-CD2D-425A-8511-F724B5E414F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31B155A-9854-4C27-7299-9967177385BB}"/>
              </a:ext>
            </a:extLst>
          </p:cNvPr>
          <p:cNvSpPr/>
          <p:nvPr/>
        </p:nvSpPr>
        <p:spPr>
          <a:xfrm>
            <a:off x="658085" y="420023"/>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Learning Outcomes</a:t>
            </a:r>
          </a:p>
        </p:txBody>
      </p:sp>
      <p:pic>
        <p:nvPicPr>
          <p:cNvPr id="2" name="Picture 1" descr="Logo&#10;&#10;Description automatically generated">
            <a:extLst>
              <a:ext uri="{FF2B5EF4-FFF2-40B4-BE49-F238E27FC236}">
                <a16:creationId xmlns:a16="http://schemas.microsoft.com/office/drawing/2014/main" id="{08A4F488-AFF8-6AB4-C5AA-9C69AD2401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A34AF8F0-5E03-1949-7F56-1B23E508610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215CD65-CE53-A48C-6EAD-CE4417BB5AF6}"/>
              </a:ext>
            </a:extLst>
          </p:cNvPr>
          <p:cNvSpPr>
            <a:spLocks noGrp="1"/>
          </p:cNvSpPr>
          <p:nvPr>
            <p:ph type="sldNum" sz="quarter" idx="12"/>
          </p:nvPr>
        </p:nvSpPr>
        <p:spPr/>
        <p:txBody>
          <a:bodyPr/>
          <a:lstStyle/>
          <a:p>
            <a:fld id="{C8F35010-364B-470B-BB6C-DCBBE63D2E54}" type="slidenum">
              <a:rPr lang="en-US" smtClean="0">
                <a:solidFill>
                  <a:schemeClr val="tx1"/>
                </a:solidFill>
              </a:rPr>
              <a:t>30</a:t>
            </a:fld>
            <a:endParaRPr lang="en-US" dirty="0">
              <a:solidFill>
                <a:schemeClr val="tx1"/>
              </a:solidFill>
            </a:endParaRPr>
          </a:p>
        </p:txBody>
      </p:sp>
      <p:sp>
        <p:nvSpPr>
          <p:cNvPr id="4" name="TextBox 3">
            <a:extLst>
              <a:ext uri="{FF2B5EF4-FFF2-40B4-BE49-F238E27FC236}">
                <a16:creationId xmlns:a16="http://schemas.microsoft.com/office/drawing/2014/main" id="{8F5F9109-B361-E7A9-4547-D50AFAE1A9A0}"/>
              </a:ext>
            </a:extLst>
          </p:cNvPr>
          <p:cNvSpPr txBox="1"/>
          <p:nvPr/>
        </p:nvSpPr>
        <p:spPr>
          <a:xfrm>
            <a:off x="914759" y="1258320"/>
            <a:ext cx="4571641" cy="34163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400" dirty="0"/>
              <a:t>Full-stack application development</a:t>
            </a:r>
          </a:p>
          <a:p>
            <a:pPr marL="342900" lvl="0" indent="-342900">
              <a:buFont typeface="Arial" panose="020B0604020202020204" pitchFamily="34" charset="0"/>
              <a:buChar char="•"/>
            </a:pPr>
            <a:r>
              <a:rPr lang="en-IN" sz="2400" dirty="0"/>
              <a:t>REST API design using Spring Boot</a:t>
            </a:r>
          </a:p>
          <a:p>
            <a:pPr marL="342900" lvl="0" indent="-342900">
              <a:buFont typeface="Arial" panose="020B0604020202020204" pitchFamily="34" charset="0"/>
              <a:buChar char="•"/>
            </a:pPr>
            <a:r>
              <a:rPr lang="en-IN" sz="2400" dirty="0"/>
              <a:t>Angular frontend development</a:t>
            </a:r>
          </a:p>
          <a:p>
            <a:pPr marL="342900" lvl="0" indent="-342900">
              <a:buFont typeface="Arial" panose="020B0604020202020204" pitchFamily="34" charset="0"/>
              <a:buChar char="•"/>
            </a:pPr>
            <a:r>
              <a:rPr lang="en-IN" sz="2400" dirty="0"/>
              <a:t>Docker containerization</a:t>
            </a:r>
          </a:p>
          <a:p>
            <a:pPr marL="342900" lvl="0" indent="-342900">
              <a:buFont typeface="Arial" panose="020B0604020202020204" pitchFamily="34" charset="0"/>
              <a:buChar char="•"/>
            </a:pPr>
            <a:r>
              <a:rPr lang="en-IN" sz="2400" dirty="0"/>
              <a:t>Azure cloud deployment</a:t>
            </a:r>
          </a:p>
          <a:p>
            <a:pPr marL="342900" lvl="0" indent="-342900">
              <a:buFont typeface="Arial" panose="020B0604020202020204" pitchFamily="34" charset="0"/>
              <a:buChar char="•"/>
            </a:pPr>
            <a:r>
              <a:rPr lang="en-IN" sz="2400" dirty="0"/>
              <a:t>Debugging and problem-solving</a:t>
            </a:r>
          </a:p>
        </p:txBody>
      </p:sp>
      <p:pic>
        <p:nvPicPr>
          <p:cNvPr id="7" name="Picture 6">
            <a:extLst>
              <a:ext uri="{FF2B5EF4-FFF2-40B4-BE49-F238E27FC236}">
                <a16:creationId xmlns:a16="http://schemas.microsoft.com/office/drawing/2014/main" id="{4FEDDC40-E04A-32F6-A8C7-CF928809B24E}"/>
              </a:ext>
            </a:extLst>
          </p:cNvPr>
          <p:cNvPicPr>
            <a:picLocks noChangeAspect="1"/>
          </p:cNvPicPr>
          <p:nvPr/>
        </p:nvPicPr>
        <p:blipFill>
          <a:blip r:embed="rId3">
            <a:extLst>
              <a:ext uri="{28A0092B-C50C-407E-A947-70E740481C1C}">
                <a14:useLocalDpi xmlns:a14="http://schemas.microsoft.com/office/drawing/2010/main" val="0"/>
              </a:ext>
            </a:extLst>
          </a:blip>
          <a:srcRect l="10006" t="20889" r="10209" b="23260"/>
          <a:stretch>
            <a:fillRect/>
          </a:stretch>
        </p:blipFill>
        <p:spPr>
          <a:xfrm>
            <a:off x="6309172" y="1432560"/>
            <a:ext cx="4247069" cy="4074160"/>
          </a:xfrm>
          <a:prstGeom prst="rect">
            <a:avLst/>
          </a:prstGeom>
        </p:spPr>
      </p:pic>
    </p:spTree>
    <p:extLst>
      <p:ext uri="{BB962C8B-B14F-4D97-AF65-F5344CB8AC3E}">
        <p14:creationId xmlns:p14="http://schemas.microsoft.com/office/powerpoint/2010/main" val="1530165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CEC82-254E-CB0B-3CBC-9DC12246B76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EC9680CF-7C3F-18B2-341B-37A23CF1567D}"/>
              </a:ext>
            </a:extLst>
          </p:cNvPr>
          <p:cNvSpPr/>
          <p:nvPr/>
        </p:nvSpPr>
        <p:spPr>
          <a:xfrm>
            <a:off x="658085" y="420023"/>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Conclusion</a:t>
            </a:r>
          </a:p>
        </p:txBody>
      </p:sp>
      <p:pic>
        <p:nvPicPr>
          <p:cNvPr id="2" name="Picture 1" descr="Logo&#10;&#10;Description automatically generated">
            <a:extLst>
              <a:ext uri="{FF2B5EF4-FFF2-40B4-BE49-F238E27FC236}">
                <a16:creationId xmlns:a16="http://schemas.microsoft.com/office/drawing/2014/main" id="{04861B90-C849-CB6C-E9AE-667CAB43A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03CCCC7-6556-BAE5-DF09-EA47D7F96E7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643EBB8-B790-453F-AB24-D8B8DC88B6C1}"/>
              </a:ext>
            </a:extLst>
          </p:cNvPr>
          <p:cNvSpPr>
            <a:spLocks noGrp="1"/>
          </p:cNvSpPr>
          <p:nvPr>
            <p:ph type="sldNum" sz="quarter" idx="12"/>
          </p:nvPr>
        </p:nvSpPr>
        <p:spPr/>
        <p:txBody>
          <a:bodyPr/>
          <a:lstStyle/>
          <a:p>
            <a:fld id="{C8F35010-364B-470B-BB6C-DCBBE63D2E54}" type="slidenum">
              <a:rPr lang="en-US" smtClean="0">
                <a:solidFill>
                  <a:schemeClr val="tx1"/>
                </a:solidFill>
              </a:rPr>
              <a:t>31</a:t>
            </a:fld>
            <a:endParaRPr lang="en-US" dirty="0">
              <a:solidFill>
                <a:schemeClr val="tx1"/>
              </a:solidFill>
            </a:endParaRPr>
          </a:p>
        </p:txBody>
      </p:sp>
      <p:sp>
        <p:nvSpPr>
          <p:cNvPr id="4" name="TextBox 3">
            <a:extLst>
              <a:ext uri="{FF2B5EF4-FFF2-40B4-BE49-F238E27FC236}">
                <a16:creationId xmlns:a16="http://schemas.microsoft.com/office/drawing/2014/main" id="{A0B6DAFC-F642-5BE6-B5C3-56C05A63EE51}"/>
              </a:ext>
            </a:extLst>
          </p:cNvPr>
          <p:cNvSpPr txBox="1"/>
          <p:nvPr/>
        </p:nvSpPr>
        <p:spPr>
          <a:xfrm>
            <a:off x="853440" y="1036320"/>
            <a:ext cx="10810240" cy="455168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2400" dirty="0"/>
              <a:t>This project successfully demonstrates the design and implementation of a full-stack Task Management Application using modern web and cloud technologies. The Angular frontend provides a responsive and user-friendly interface, while the Spring Boot backend exposes RESTful APIs to handle business logic and database operations. MySQL ensures reliable data storage, and all CRUD operations were validated using both the frontend and Postman. Docker was used to containerize the backend, ensuring consistency across environments, and Azure was used to deploy and host the application, reflecting real-world DevOps practices. Overall, the project showcases strong integration between frontend, backend, database, containerization, and cloud deployment, highlighting practical full-stack and DevOps skills applicable to industry-level applications.</a:t>
            </a:r>
            <a:endParaRPr lang="en-IN" sz="2400" dirty="0"/>
          </a:p>
        </p:txBody>
      </p:sp>
    </p:spTree>
    <p:extLst>
      <p:ext uri="{BB962C8B-B14F-4D97-AF65-F5344CB8AC3E}">
        <p14:creationId xmlns:p14="http://schemas.microsoft.com/office/powerpoint/2010/main" val="4119647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671C-862E-ACE8-6F90-88CFC740269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77884AAA-CF59-317C-3ED0-894206EE2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C4EDF39-07A1-5874-C7B0-8553FF223D6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7FB9ACE3-0579-36FF-A9A1-D3A6B541F864}"/>
              </a:ext>
            </a:extLst>
          </p:cNvPr>
          <p:cNvSpPr>
            <a:spLocks noGrp="1"/>
          </p:cNvSpPr>
          <p:nvPr>
            <p:ph type="sldNum" sz="quarter" idx="12"/>
          </p:nvPr>
        </p:nvSpPr>
        <p:spPr/>
        <p:txBody>
          <a:bodyPr/>
          <a:lstStyle/>
          <a:p>
            <a:fld id="{C8F35010-364B-470B-BB6C-DCBBE63D2E54}" type="slidenum">
              <a:rPr lang="en-US" smtClean="0">
                <a:solidFill>
                  <a:schemeClr val="tx1"/>
                </a:solidFill>
              </a:rPr>
              <a:t>32</a:t>
            </a:fld>
            <a:endParaRPr lang="en-US" dirty="0">
              <a:solidFill>
                <a:schemeClr val="tx1"/>
              </a:solidFill>
            </a:endParaRPr>
          </a:p>
        </p:txBody>
      </p:sp>
      <p:pic>
        <p:nvPicPr>
          <p:cNvPr id="1026" name="Picture 2">
            <a:extLst>
              <a:ext uri="{FF2B5EF4-FFF2-40B4-BE49-F238E27FC236}">
                <a16:creationId xmlns:a16="http://schemas.microsoft.com/office/drawing/2014/main" id="{784D9CB8-90C7-2807-770A-254976CC7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233680"/>
            <a:ext cx="10515600" cy="591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663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6049</TotalTime>
  <Words>899</Words>
  <Application>Microsoft Office PowerPoint</Application>
  <PresentationFormat>Widescreen</PresentationFormat>
  <Paragraphs>183</Paragraphs>
  <Slides>32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Aptos</vt:lpstr>
      <vt:lpstr>Aptos Display</vt:lpstr>
      <vt:lpstr>Arial</vt:lpstr>
      <vt:lpstr>Calibri</vt:lpstr>
      <vt:lpstr>HK Grotesk</vt:lpstr>
      <vt:lpstr>HK Grotesk Bold</vt:lpstr>
      <vt:lpstr>HK Grotesk Light</vt:lpstr>
      <vt:lpstr>HK Grotesk Light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Jayanth Vasamsetti</cp:lastModifiedBy>
  <cp:revision>24</cp:revision>
  <dcterms:created xsi:type="dcterms:W3CDTF">2024-05-04T13:11:57Z</dcterms:created>
  <dcterms:modified xsi:type="dcterms:W3CDTF">2026-02-09T09:40:31Z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